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4" r:id="rId8"/>
    <p:sldId id="261" r:id="rId9"/>
    <p:sldId id="271" r:id="rId10"/>
    <p:sldId id="263" r:id="rId11"/>
    <p:sldId id="262" r:id="rId12"/>
    <p:sldId id="260" r:id="rId13"/>
    <p:sldId id="265" r:id="rId14"/>
    <p:sldId id="270" r:id="rId15"/>
    <p:sldId id="269" r:id="rId1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风险指数</c:f>
              <c:strCache>
                <c:ptCount val="1"/>
                <c:pt idx="0">
                  <c:v>风险指数</c:v>
                </c:pt>
              </c:strCache>
            </c:strRef>
          </c:tx>
          <c:spPr>
            <a:ln w="28575" cap="rnd">
              <a:solidFill>
                <a:srgbClr val="4A90E2"/>
              </a:solidFill>
              <a:prstDash val="solid"/>
              <a:round/>
            </a:ln>
          </c:spPr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{"5/5","5/6","5/7","5/8","5/9","5/10","5/11"}</c:f>
              <c:strCache>
                <c:ptCount val="7"/>
                <c:pt idx="0">
                  <c:v>5/5</c:v>
                </c:pt>
                <c:pt idx="1">
                  <c:v>5/6</c:v>
                </c:pt>
                <c:pt idx="2">
                  <c:v>5/7</c:v>
                </c:pt>
                <c:pt idx="3">
                  <c:v>5/8</c:v>
                </c:pt>
                <c:pt idx="4">
                  <c:v>5/9</c:v>
                </c:pt>
                <c:pt idx="5">
                  <c:v>5/10</c:v>
                </c:pt>
                <c:pt idx="6">
                  <c:v>5/11</c:v>
                </c:pt>
              </c:strCache>
            </c:strRef>
          </c:cat>
          <c:val>
            <c:numRef>
              <c:f>{73,71,72,71,72,71,72}</c:f>
              <c:numCache>
                <c:formatCode>General</c:formatCode>
                <c:ptCount val="7"/>
                <c:pt idx="0">
                  <c:v>73</c:v>
                </c:pt>
                <c:pt idx="1">
                  <c:v>71</c:v>
                </c:pt>
                <c:pt idx="2">
                  <c:v>72</c:v>
                </c:pt>
                <c:pt idx="3">
                  <c:v>71</c:v>
                </c:pt>
                <c:pt idx="4">
                  <c:v>72</c:v>
                </c:pt>
                <c:pt idx="5">
                  <c:v>71</c:v>
                </c:pt>
                <c:pt idx="6">
                  <c:v>72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50" b="0" i="0" u="none" strike="noStrike" kern="1200" baseline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80"/>
          <c:min val="6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50" b="0" i="0" u="none" strike="noStrike" kern="1200" baseline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501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932f8ed5-c435-4bf3-a278-eb5a6d519fb0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封面聚焦项目定位，先抛出核心价值：把病虫害识别、知识查询、风险预警和处置建议打通成一个闭环。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封面聚焦项目定位，先抛出核心价值：把病虫害识别、知识查询、风险预警和处置建议打通成一个闭环。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/>
        </p:txBody>
      </p:sp>
      <p:sp>
        <p:nvSpPr>
          <p:cNvPr id="3" name="Subtitle 2"/>
          <p:cNvSpPr/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/>
        </p:txBody>
      </p:sp>
      <p:sp>
        <p:nvSpPr>
          <p:cNvPr id="4" name="Date Placeholder 3"/>
          <p:cNvSpPr/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Footer Placeholder 4"/>
          <p:cNvSpPr/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/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Slide Number Placeholder 5"/>
          <p:cNvSpPr/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4" Type="http://schemas.openxmlformats.org/officeDocument/2006/relationships/notesSlide" Target="../notesSlides/notesSlide4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24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tags" Target="../tags/tag13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4" Type="http://schemas.openxmlformats.org/officeDocument/2006/relationships/notesSlide" Target="../notesSlides/notesSlide5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36.xml"/><Relationship Id="rId11" Type="http://schemas.openxmlformats.org/officeDocument/2006/relationships/tags" Target="../tags/tag35.xml"/><Relationship Id="rId10" Type="http://schemas.openxmlformats.org/officeDocument/2006/relationships/tags" Target="../tags/tag34.xml"/><Relationship Id="rId1" Type="http://schemas.openxmlformats.org/officeDocument/2006/relationships/tags" Target="../tags/tag25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45.xml"/><Relationship Id="rId8" Type="http://schemas.openxmlformats.org/officeDocument/2006/relationships/tags" Target="../tags/tag44.xml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6" Type="http://schemas.openxmlformats.org/officeDocument/2006/relationships/notesSlide" Target="../notesSlides/notesSlide10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60.xml"/><Relationship Id="rId23" Type="http://schemas.openxmlformats.org/officeDocument/2006/relationships/tags" Target="../tags/tag59.xml"/><Relationship Id="rId22" Type="http://schemas.openxmlformats.org/officeDocument/2006/relationships/tags" Target="../tags/tag58.xml"/><Relationship Id="rId21" Type="http://schemas.openxmlformats.org/officeDocument/2006/relationships/tags" Target="../tags/tag57.xml"/><Relationship Id="rId20" Type="http://schemas.openxmlformats.org/officeDocument/2006/relationships/tags" Target="../tags/tag56.xml"/><Relationship Id="rId2" Type="http://schemas.openxmlformats.org/officeDocument/2006/relationships/tags" Target="../tags/tag38.xml"/><Relationship Id="rId19" Type="http://schemas.openxmlformats.org/officeDocument/2006/relationships/tags" Target="../tags/tag55.xml"/><Relationship Id="rId18" Type="http://schemas.openxmlformats.org/officeDocument/2006/relationships/tags" Target="../tags/tag54.xml"/><Relationship Id="rId17" Type="http://schemas.openxmlformats.org/officeDocument/2006/relationships/tags" Target="../tags/tag53.xml"/><Relationship Id="rId16" Type="http://schemas.openxmlformats.org/officeDocument/2006/relationships/tags" Target="../tags/tag52.xml"/><Relationship Id="rId15" Type="http://schemas.openxmlformats.org/officeDocument/2006/relationships/tags" Target="../tags/tag51.xml"/><Relationship Id="rId14" Type="http://schemas.openxmlformats.org/officeDocument/2006/relationships/tags" Target="../tags/tag50.xml"/><Relationship Id="rId13" Type="http://schemas.openxmlformats.org/officeDocument/2006/relationships/tags" Target="../tags/tag49.xml"/><Relationship Id="rId12" Type="http://schemas.openxmlformats.org/officeDocument/2006/relationships/tags" Target="../tags/tag48.xml"/><Relationship Id="rId11" Type="http://schemas.openxmlformats.org/officeDocument/2006/relationships/tags" Target="../tags/tag47.xml"/><Relationship Id="rId10" Type="http://schemas.openxmlformats.org/officeDocument/2006/relationships/tags" Target="../tags/tag46.xml"/><Relationship Id="rId1" Type="http://schemas.openxmlformats.org/officeDocument/2006/relationships/tags" Target="../tags/tag3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5"/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6"/>
          </a:solidFill>
          <a:ln w="0">
            <a:solidFill>
              <a:srgbClr val="F7FBF6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0"/>
            <a:ext cx="3810000" cy="6858000"/>
          </a:xfrm>
          <a:prstGeom prst="rect">
            <a:avLst/>
          </a:prstGeom>
          <a:solidFill>
            <a:srgbClr val="0F4A2F"/>
          </a:solidFill>
          <a:ln w="0">
            <a:solidFill>
              <a:srgbClr val="0F4A2F"/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6667500" y="381000"/>
            <a:ext cx="4476750" cy="4476750"/>
          </a:xfrm>
          <a:prstGeom prst="ellipse">
            <a:avLst/>
          </a:prstGeom>
          <a:solidFill>
            <a:srgbClr val="EAF6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椭圆 5"/>
          <p:cNvSpPr>
            <a:spLocks noGrp="1"/>
          </p:cNvSpPr>
          <p:nvPr/>
        </p:nvSpPr>
        <p:spPr>
          <a:xfrm>
            <a:off x="8048625" y="1381125"/>
            <a:ext cx="2857500" cy="2857500"/>
          </a:xfrm>
          <a:prstGeom prst="ellipse">
            <a:avLst/>
          </a:prstGeom>
          <a:solidFill>
            <a:srgbClr val="D8EBD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圆角矩形 6"/>
          <p:cNvSpPr>
            <a:spLocks noGrp="1"/>
          </p:cNvSpPr>
          <p:nvPr/>
        </p:nvSpPr>
        <p:spPr>
          <a:xfrm>
            <a:off x="7239000" y="1428750"/>
            <a:ext cx="3619500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C9DDCB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524750" y="1809750"/>
            <a:ext cx="3048000" cy="247650"/>
          </a:xfrm>
          <a:prstGeom prst="rect">
            <a:avLst/>
          </a:prstGeom>
          <a:solidFill>
            <a:srgbClr val="0F4A2F"/>
          </a:solidFill>
          <a:ln w="0">
            <a:solidFill>
              <a:srgbClr val="0F4A2F"/>
            </a:solidFill>
            <a:prstDash val="solid"/>
          </a:ln>
        </p:spPr>
      </p:sp>
      <p:sp>
        <p:nvSpPr>
          <p:cNvPr id="9" name="圆角矩形 8"/>
          <p:cNvSpPr>
            <a:spLocks noGrp="1"/>
          </p:cNvSpPr>
          <p:nvPr/>
        </p:nvSpPr>
        <p:spPr>
          <a:xfrm>
            <a:off x="7524750" y="2247900"/>
            <a:ext cx="1428750" cy="1123950"/>
          </a:xfrm>
          <a:prstGeom prst="roundRect">
            <a:avLst>
              <a:gd name="adj" fmla="val 6780"/>
            </a:avLst>
          </a:prstGeom>
          <a:solidFill>
            <a:srgbClr val="EAF6E8"/>
          </a:solidFill>
          <a:ln w="0">
            <a:solidFill>
              <a:srgbClr val="EAF6E8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9144000" y="2247900"/>
            <a:ext cx="142875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C9DDCB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7524750" y="3524250"/>
            <a:ext cx="3048000" cy="209550"/>
          </a:xfrm>
          <a:prstGeom prst="roundRect">
            <a:avLst>
              <a:gd name="adj" fmla="val 36364"/>
            </a:avLst>
          </a:prstGeom>
          <a:solidFill>
            <a:srgbClr val="D8EBD7"/>
          </a:solidFill>
          <a:ln w="0">
            <a:solidFill>
              <a:srgbClr val="D8EBD7"/>
            </a:solidFill>
            <a:prstDash val="solid"/>
          </a:ln>
        </p:spPr>
      </p:sp>
      <p:sp>
        <p:nvSpPr>
          <p:cNvPr id="12" name="圆角矩形 11"/>
          <p:cNvSpPr>
            <a:spLocks noGrp="1"/>
          </p:cNvSpPr>
          <p:nvPr/>
        </p:nvSpPr>
        <p:spPr>
          <a:xfrm>
            <a:off x="7524750" y="3848100"/>
            <a:ext cx="2381250" cy="209550"/>
          </a:xfrm>
          <a:prstGeom prst="roundRect">
            <a:avLst>
              <a:gd name="adj" fmla="val 36364"/>
            </a:avLst>
          </a:prstGeom>
          <a:solidFill>
            <a:srgbClr val="D8EBD7"/>
          </a:solidFill>
          <a:ln w="0">
            <a:solidFill>
              <a:srgbClr val="D8EBD7"/>
            </a:solidFill>
            <a:prstDash val="solid"/>
          </a:ln>
        </p:spPr>
      </p:sp>
      <p:sp>
        <p:nvSpPr>
          <p:cNvPr id="13" name="椭圆 12"/>
          <p:cNvSpPr>
            <a:spLocks noGrp="1"/>
          </p:cNvSpPr>
          <p:nvPr/>
        </p:nvSpPr>
        <p:spPr>
          <a:xfrm>
            <a:off x="7810500" y="2524125"/>
            <a:ext cx="152400" cy="152400"/>
          </a:xfrm>
          <a:prstGeom prst="ellipse">
            <a:avLst/>
          </a:prstGeom>
          <a:solidFill>
            <a:srgbClr val="2E7D32"/>
          </a:solidFill>
          <a:ln w="0">
            <a:solidFill>
              <a:srgbClr val="2E7D32"/>
            </a:solidFill>
            <a:prstDash val="solid"/>
          </a:ln>
        </p:spPr>
      </p:sp>
      <p:sp>
        <p:nvSpPr>
          <p:cNvPr id="14" name="椭圆 13"/>
          <p:cNvSpPr>
            <a:spLocks noGrp="1"/>
          </p:cNvSpPr>
          <p:nvPr/>
        </p:nvSpPr>
        <p:spPr>
          <a:xfrm>
            <a:off x="8001000" y="2571750"/>
            <a:ext cx="95250" cy="95250"/>
          </a:xfrm>
          <a:prstGeom prst="ellipse">
            <a:avLst/>
          </a:prstGeom>
          <a:solidFill>
            <a:srgbClr val="E7B84B"/>
          </a:solidFill>
          <a:ln w="0">
            <a:solidFill>
              <a:srgbClr val="E7B84B"/>
            </a:solidFill>
            <a:prstDash val="solid"/>
          </a:ln>
        </p:spPr>
      </p:sp>
      <p:sp>
        <p:nvSpPr>
          <p:cNvPr id="15" name="椭圆 14"/>
          <p:cNvSpPr>
            <a:spLocks noGrp="1"/>
          </p:cNvSpPr>
          <p:nvPr/>
        </p:nvSpPr>
        <p:spPr>
          <a:xfrm>
            <a:off x="9429750" y="2524125"/>
            <a:ext cx="152400" cy="152400"/>
          </a:xfrm>
          <a:prstGeom prst="ellipse">
            <a:avLst/>
          </a:prstGeom>
          <a:solidFill>
            <a:srgbClr val="F47C65"/>
          </a:solidFill>
          <a:ln w="0">
            <a:solidFill>
              <a:srgbClr val="F47C65"/>
            </a:solidFill>
            <a:prstDash val="solid"/>
          </a:ln>
        </p:spPr>
      </p:sp>
      <p:sp>
        <p:nvSpPr>
          <p:cNvPr id="16" name="椭圆 15"/>
          <p:cNvSpPr>
            <a:spLocks noGrp="1"/>
          </p:cNvSpPr>
          <p:nvPr/>
        </p:nvSpPr>
        <p:spPr>
          <a:xfrm>
            <a:off x="9620250" y="2571750"/>
            <a:ext cx="95250" cy="95250"/>
          </a:xfrm>
          <a:prstGeom prst="ellipse">
            <a:avLst/>
          </a:prstGeom>
          <a:solidFill>
            <a:srgbClr val="E7B84B"/>
          </a:solidFill>
          <a:ln w="0">
            <a:solidFill>
              <a:srgbClr val="E7B84B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504190" y="829310"/>
            <a:ext cx="4476750" cy="1333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农作物病虫害识别</a:t>
            </a:r>
            <a:endParaRPr sz="2550" b="1">
              <a:solidFill>
                <a:srgbClr val="FFFFFF"/>
              </a:solidFill>
            </a:endParaRPr>
          </a:p>
          <a:p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与智能预警平台</a:t>
            </a:r>
            <a:endParaRPr sz="2550" b="1">
              <a:solidFill>
                <a:srgbClr val="FFFFFF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27000" y="2108200"/>
            <a:ext cx="3433445" cy="25323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200" b="0">
                <a:solidFill>
                  <a:srgbClr val="D7F0DB"/>
                </a:solidFill>
              </a:defRPr>
            </a:pPr>
            <a:r>
              <a:rPr sz="2400" b="0">
                <a:solidFill>
                  <a:srgbClr val="D7F0DB"/>
                </a:solidFill>
              </a:rPr>
              <a:t>基于 YOLOv8、知识图谱与对话诊断的智慧植保系统</a:t>
            </a:r>
            <a:endParaRPr sz="2400" b="0">
              <a:solidFill>
                <a:srgbClr val="D7F0DB"/>
              </a:solidFill>
            </a:endParaRPr>
          </a:p>
          <a:p>
            <a:pPr algn="l">
              <a:defRPr sz="1200" b="0">
                <a:solidFill>
                  <a:srgbClr val="D7F0DB"/>
                </a:solidFill>
              </a:defRPr>
            </a:pPr>
            <a:r>
              <a:rPr sz="2400" b="0">
                <a:solidFill>
                  <a:srgbClr val="D7F0DB"/>
                </a:solidFill>
              </a:rPr>
              <a:t>服务病害识别、风险预测、防治建议与区域治理</a:t>
            </a:r>
            <a:endParaRPr sz="2400" b="0">
              <a:solidFill>
                <a:srgbClr val="D7F0DB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90270" y="4791710"/>
            <a:ext cx="1906270" cy="748665"/>
          </a:xfrm>
          <a:prstGeom prst="rect">
            <a:avLst/>
          </a:prstGeom>
          <a:solidFill>
            <a:srgbClr val="D3F1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75" b="1">
                <a:solidFill>
                  <a:srgbClr val="0F4A2F"/>
                </a:solidFill>
              </a:defRPr>
            </a:pPr>
            <a:r>
              <a:rPr sz="2800" b="1">
                <a:solidFill>
                  <a:srgbClr val="0F4A2F"/>
                </a:solidFill>
              </a:rPr>
              <a:t>答辩展示</a:t>
            </a:r>
            <a:endParaRPr sz="2800" b="1">
              <a:solidFill>
                <a:srgbClr val="0F4A2F"/>
              </a:solidFill>
            </a:endParaRPr>
          </a:p>
        </p:txBody>
      </p:sp>
      <p:pic>
        <p:nvPicPr>
          <p:cNvPr id="24" name="图片 23" descr="绿色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0" y="-635"/>
            <a:ext cx="9110345" cy="68592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5"/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1047750"/>
          </a:xfrm>
          <a:prstGeom prst="rect">
            <a:avLst/>
          </a:prstGeom>
          <a:solidFill>
            <a:srgbClr val="0F4A2F"/>
          </a:solidFill>
          <a:ln w="0">
            <a:solidFill>
              <a:srgbClr val="0F4A2F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1047750"/>
            <a:ext cx="12192000" cy="5810250"/>
          </a:xfrm>
          <a:prstGeom prst="rect">
            <a:avLst/>
          </a:prstGeom>
          <a:solidFill>
            <a:srgbClr val="F7FBF6"/>
          </a:solidFill>
          <a:ln w="0">
            <a:solidFill>
              <a:srgbClr val="F7FBF6"/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9334500" y="-857250"/>
            <a:ext cx="3048000" cy="2476500"/>
          </a:xfrm>
          <a:prstGeom prst="ellipse">
            <a:avLst/>
          </a:prstGeom>
          <a:solidFill>
            <a:srgbClr val="2E7D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椭圆 5"/>
          <p:cNvSpPr>
            <a:spLocks noGrp="1"/>
          </p:cNvSpPr>
          <p:nvPr/>
        </p:nvSpPr>
        <p:spPr>
          <a:xfrm>
            <a:off x="9906000" y="190500"/>
            <a:ext cx="1905000" cy="1333500"/>
          </a:xfrm>
          <a:prstGeom prst="ellipse">
            <a:avLst/>
          </a:prstGeom>
          <a:solidFill>
            <a:srgbClr val="74C36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椭圆 6"/>
          <p:cNvSpPr>
            <a:spLocks noGrp="1"/>
          </p:cNvSpPr>
          <p:nvPr/>
        </p:nvSpPr>
        <p:spPr>
          <a:xfrm>
            <a:off x="-857250" y="5143500"/>
            <a:ext cx="2095500" cy="1524000"/>
          </a:xfrm>
          <a:prstGeom prst="ellipse">
            <a:avLst/>
          </a:prstGeom>
          <a:solidFill>
            <a:srgbClr val="D8EBD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228600" y="114300"/>
            <a:ext cx="7048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项目背景与行业痛点</a:t>
            </a:r>
            <a:endParaRPr sz="3600" b="1">
              <a:solidFill>
                <a:srgbClr val="FFFFFF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42900" y="704850"/>
            <a:ext cx="819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900" b="0">
                <a:solidFill>
                  <a:srgbClr val="D8F0DA"/>
                </a:solidFill>
              </a:defRPr>
            </a:pPr>
            <a:r>
              <a:rPr sz="2000" b="0">
                <a:solidFill>
                  <a:srgbClr val="D8F0DA"/>
                </a:solidFill>
              </a:rPr>
              <a:t>传统植保依赖经验，存在</a:t>
            </a:r>
            <a:r>
              <a:rPr sz="2000" b="0">
                <a:solidFill>
                  <a:srgbClr val="C00000"/>
                </a:solidFill>
              </a:rPr>
              <a:t>识别慢、预警晚、协同弱</a:t>
            </a:r>
            <a:r>
              <a:rPr sz="2000" b="0">
                <a:solidFill>
                  <a:srgbClr val="D8F0DA"/>
                </a:solidFill>
              </a:rPr>
              <a:t>三大短板</a:t>
            </a:r>
            <a:endParaRPr sz="2000" b="0">
              <a:solidFill>
                <a:srgbClr val="D8F0DA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66700" y="1790700"/>
            <a:ext cx="4953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400" b="1">
                <a:solidFill>
                  <a:srgbClr val="0F4A2F"/>
                </a:solidFill>
              </a:defRPr>
            </a:pPr>
            <a:r>
              <a:rPr sz="4800" b="1">
                <a:solidFill>
                  <a:srgbClr val="0F4A2F"/>
                </a:solidFill>
              </a:rPr>
              <a:t>传统植保痛点明显</a:t>
            </a:r>
            <a:endParaRPr sz="4800" b="1">
              <a:solidFill>
                <a:srgbClr val="0F4A2F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66700" y="3333750"/>
            <a:ext cx="3638550" cy="291973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C9DDCB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09600" y="3429000"/>
            <a:ext cx="76200" cy="1809750"/>
          </a:xfrm>
          <a:prstGeom prst="rect">
            <a:avLst/>
          </a:prstGeom>
          <a:solidFill>
            <a:srgbClr val="2E7D32"/>
          </a:solidFill>
          <a:ln w="0">
            <a:solidFill>
              <a:srgbClr val="2E7D32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838200" y="3600450"/>
            <a:ext cx="30003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1">
                <a:solidFill>
                  <a:srgbClr val="173124"/>
                </a:solidFill>
              </a:defRPr>
            </a:pPr>
            <a:r>
              <a:rPr sz="2800" b="1">
                <a:solidFill>
                  <a:srgbClr val="173124"/>
                </a:solidFill>
              </a:rPr>
              <a:t>识别依赖人工经验</a:t>
            </a:r>
            <a:endParaRPr sz="2800" b="1">
              <a:solidFill>
                <a:srgbClr val="173124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875030" y="4260215"/>
            <a:ext cx="2962275" cy="1085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050" b="0">
                <a:solidFill>
                  <a:srgbClr val="244233"/>
                </a:solidFill>
              </a:defRPr>
            </a:pPr>
            <a:r>
              <a:rPr sz="2000" b="0">
                <a:solidFill>
                  <a:srgbClr val="244233"/>
                </a:solidFill>
              </a:rPr>
              <a:t>同类病害外观相近</a:t>
            </a:r>
            <a:endParaRPr sz="2000" b="0">
              <a:solidFill>
                <a:srgbClr val="244233"/>
              </a:solidFill>
            </a:endParaRPr>
          </a:p>
          <a:p>
            <a:pPr algn="l">
              <a:defRPr sz="1050" b="0">
                <a:solidFill>
                  <a:srgbClr val="244233"/>
                </a:solidFill>
              </a:defRPr>
            </a:pPr>
            <a:r>
              <a:rPr sz="2000" b="0">
                <a:solidFill>
                  <a:srgbClr val="244233"/>
                </a:solidFill>
              </a:rPr>
              <a:t>新手农户难以快速判断</a:t>
            </a:r>
            <a:endParaRPr sz="2000" b="0">
              <a:solidFill>
                <a:srgbClr val="244233"/>
              </a:solidFill>
            </a:endParaRPr>
          </a:p>
          <a:p>
            <a:pPr algn="l">
              <a:defRPr sz="1050" b="0">
                <a:solidFill>
                  <a:srgbClr val="244233"/>
                </a:solidFill>
              </a:defRPr>
            </a:pPr>
            <a:r>
              <a:rPr sz="2000" b="0">
                <a:solidFill>
                  <a:srgbClr val="244233"/>
                </a:solidFill>
              </a:rPr>
              <a:t>一旦误判，容易造成药剂使用不当和防治窗口错失</a:t>
            </a:r>
            <a:endParaRPr sz="2000" b="0">
              <a:solidFill>
                <a:srgbClr val="244233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4400550" y="3352800"/>
            <a:ext cx="3456305" cy="2900045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C9DDCB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400550" y="3429000"/>
            <a:ext cx="76200" cy="1809750"/>
          </a:xfrm>
          <a:prstGeom prst="rect">
            <a:avLst/>
          </a:prstGeom>
          <a:solidFill>
            <a:srgbClr val="E7B84B"/>
          </a:solidFill>
          <a:ln w="0">
            <a:solidFill>
              <a:srgbClr val="E7B84B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4629150" y="3600450"/>
            <a:ext cx="30003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1">
                <a:solidFill>
                  <a:srgbClr val="173124"/>
                </a:solidFill>
              </a:defRPr>
            </a:pPr>
            <a:r>
              <a:rPr sz="2800" b="1">
                <a:solidFill>
                  <a:srgbClr val="173124"/>
                </a:solidFill>
              </a:rPr>
              <a:t>预警缺少前瞻能力</a:t>
            </a:r>
            <a:endParaRPr sz="2800" b="1">
              <a:solidFill>
                <a:srgbClr val="173124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4533265" y="4260215"/>
            <a:ext cx="2962275" cy="1085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244233"/>
                </a:solidFill>
              </a:defRPr>
            </a:pPr>
            <a:r>
              <a:rPr sz="2000" b="0">
                <a:solidFill>
                  <a:srgbClr val="244233"/>
                </a:solidFill>
              </a:rPr>
              <a:t>传统模式多停留在“发现后处理”</a:t>
            </a:r>
            <a:r>
              <a:rPr lang="zh-CN" sz="2000" b="0">
                <a:solidFill>
                  <a:srgbClr val="244233"/>
                </a:solidFill>
                <a:ea typeface="宋体" panose="02010600030101010101" pitchFamily="2" charset="-122"/>
              </a:rPr>
              <a:t>，</a:t>
            </a:r>
            <a:r>
              <a:rPr sz="2000" b="0">
                <a:solidFill>
                  <a:srgbClr val="244233"/>
                </a:solidFill>
              </a:rPr>
              <a:t>缺乏对温度、湿度、降雨等环境因子的联动分析，无法提前预警</a:t>
            </a:r>
            <a:r>
              <a:rPr sz="500" b="0">
                <a:solidFill>
                  <a:srgbClr val="244233"/>
                </a:solidFill>
              </a:rPr>
              <a:t>。</a:t>
            </a:r>
            <a:endParaRPr sz="500" b="0">
              <a:solidFill>
                <a:srgbClr val="244233"/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8191500" y="3352165"/>
            <a:ext cx="3381375" cy="2901315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C9DDCB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8191500" y="3429000"/>
            <a:ext cx="76200" cy="1809750"/>
          </a:xfrm>
          <a:prstGeom prst="rect">
            <a:avLst/>
          </a:prstGeom>
          <a:solidFill>
            <a:srgbClr val="F47C65"/>
          </a:solidFill>
          <a:ln w="0">
            <a:solidFill>
              <a:srgbClr val="F47C65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8420100" y="3600450"/>
            <a:ext cx="3000375" cy="298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1">
                <a:solidFill>
                  <a:srgbClr val="173124"/>
                </a:solidFill>
              </a:defRPr>
            </a:pPr>
            <a:r>
              <a:rPr sz="2800" b="1">
                <a:solidFill>
                  <a:srgbClr val="173124"/>
                </a:solidFill>
              </a:rPr>
              <a:t>数据与知识割裂</a:t>
            </a:r>
            <a:endParaRPr sz="2800" b="1">
              <a:solidFill>
                <a:srgbClr val="173124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8458200" y="4260215"/>
            <a:ext cx="2962275" cy="1085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lnSpcReduction="20000"/>
          </a:bodyPr>
          <a:lstStyle/>
          <a:p>
            <a:pPr algn="l">
              <a:defRPr sz="1050" b="0">
                <a:solidFill>
                  <a:srgbClr val="244233"/>
                </a:solidFill>
              </a:defRPr>
            </a:pPr>
            <a:r>
              <a:rPr sz="2000" b="0">
                <a:solidFill>
                  <a:srgbClr val="244233"/>
                </a:solidFill>
              </a:rPr>
              <a:t>图片、病害知识、防治建议和区域分布信息分散，无法形成统一入口，基层治理协同效率低</a:t>
            </a:r>
            <a:r>
              <a:rPr sz="1050" b="0">
                <a:solidFill>
                  <a:srgbClr val="244233"/>
                </a:solidFill>
              </a:rPr>
              <a:t>。</a:t>
            </a:r>
            <a:endParaRPr sz="1050" b="0">
              <a:solidFill>
                <a:srgbClr val="244233"/>
              </a:solidFill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7048500" y="1419225"/>
            <a:ext cx="4514850" cy="140970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C9DDCB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7296150" y="1676400"/>
            <a:ext cx="147701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050" b="1">
                <a:solidFill>
                  <a:srgbClr val="2E7D32"/>
                </a:solidFill>
              </a:defRPr>
            </a:pPr>
            <a:r>
              <a:rPr sz="2000" b="1">
                <a:solidFill>
                  <a:srgbClr val="2E7D32"/>
                </a:solidFill>
              </a:rPr>
              <a:t>项目切入点</a:t>
            </a:r>
            <a:endParaRPr sz="2000" b="1">
              <a:solidFill>
                <a:srgbClr val="2E7D32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296150" y="2038350"/>
            <a:ext cx="306451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F4A2F"/>
                </a:solidFill>
              </a:defRPr>
            </a:pPr>
            <a:r>
              <a:rPr sz="1800" b="1">
                <a:solidFill>
                  <a:srgbClr val="0F4A2F"/>
                </a:solidFill>
              </a:rPr>
              <a:t>系统能够把识别、预警、知识查询和处置整合到一个平台</a:t>
            </a:r>
            <a:endParaRPr sz="1800" b="1">
              <a:solidFill>
                <a:srgbClr val="0F4A2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5"/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1047750"/>
          </a:xfrm>
          <a:prstGeom prst="rect">
            <a:avLst/>
          </a:prstGeom>
          <a:solidFill>
            <a:srgbClr val="0F4A2F"/>
          </a:solidFill>
          <a:ln w="0">
            <a:solidFill>
              <a:srgbClr val="0F4A2F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1040130"/>
            <a:ext cx="12192000" cy="5810250"/>
          </a:xfrm>
          <a:prstGeom prst="rect">
            <a:avLst/>
          </a:prstGeom>
          <a:solidFill>
            <a:srgbClr val="F7FBF6"/>
          </a:solidFill>
          <a:ln w="0">
            <a:solidFill>
              <a:srgbClr val="F7FBF6"/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9334500" y="-857250"/>
            <a:ext cx="3048000" cy="2476500"/>
          </a:xfrm>
          <a:prstGeom prst="ellipse">
            <a:avLst/>
          </a:prstGeom>
          <a:solidFill>
            <a:srgbClr val="2E7D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椭圆 5"/>
          <p:cNvSpPr>
            <a:spLocks noGrp="1"/>
          </p:cNvSpPr>
          <p:nvPr/>
        </p:nvSpPr>
        <p:spPr>
          <a:xfrm>
            <a:off x="9906000" y="190500"/>
            <a:ext cx="1905000" cy="1333500"/>
          </a:xfrm>
          <a:prstGeom prst="ellipse">
            <a:avLst/>
          </a:prstGeom>
          <a:solidFill>
            <a:srgbClr val="74C36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椭圆 6"/>
          <p:cNvSpPr>
            <a:spLocks noGrp="1"/>
          </p:cNvSpPr>
          <p:nvPr/>
        </p:nvSpPr>
        <p:spPr>
          <a:xfrm>
            <a:off x="-857250" y="5143500"/>
            <a:ext cx="2095500" cy="1524000"/>
          </a:xfrm>
          <a:prstGeom prst="ellipse">
            <a:avLst/>
          </a:prstGeom>
          <a:solidFill>
            <a:srgbClr val="D8EBD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267970" y="190500"/>
            <a:ext cx="7048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解决方案总览</a:t>
            </a:r>
            <a:endParaRPr sz="3600" b="1">
              <a:solidFill>
                <a:srgbClr val="FFFFFF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67970" y="742950"/>
            <a:ext cx="819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900" b="0">
                <a:solidFill>
                  <a:srgbClr val="D8F0DA"/>
                </a:solidFill>
              </a:defRPr>
            </a:pPr>
            <a:r>
              <a:rPr sz="2000" b="0">
                <a:solidFill>
                  <a:srgbClr val="D8F0DA"/>
                </a:solidFill>
              </a:rPr>
              <a:t>构建“识别 - 研判 - 预警 - 处置”一体化农业病虫害智能系统</a:t>
            </a:r>
            <a:endParaRPr sz="2000" b="0">
              <a:solidFill>
                <a:srgbClr val="D8F0DA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67970" y="1524000"/>
            <a:ext cx="6755765" cy="112458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400" b="1">
                <a:solidFill>
                  <a:srgbClr val="0F4A2F"/>
                </a:solidFill>
              </a:defRPr>
            </a:pPr>
            <a:r>
              <a:rPr sz="4800" b="1">
                <a:solidFill>
                  <a:srgbClr val="0F4A2F"/>
                </a:solidFill>
              </a:rPr>
              <a:t>农业病虫害智能闭环</a:t>
            </a:r>
            <a:endParaRPr sz="4800" b="1">
              <a:solidFill>
                <a:srgbClr val="0F4A2F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67970" y="2400300"/>
            <a:ext cx="6668135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0">
                <a:solidFill>
                  <a:srgbClr val="244233"/>
                </a:solidFill>
              </a:defRPr>
            </a:pPr>
            <a:r>
              <a:rPr sz="2400" b="0">
                <a:solidFill>
                  <a:srgbClr val="244233"/>
                </a:solidFill>
              </a:rPr>
              <a:t>平台围绕图片识别、知识图谱、风险预测和智能问答四大核心能力，为生产场景提供一站式服务</a:t>
            </a:r>
            <a:endParaRPr sz="2400" b="0">
              <a:solidFill>
                <a:srgbClr val="244233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34670" y="3295650"/>
            <a:ext cx="1714500" cy="876300"/>
          </a:xfrm>
          <a:prstGeom prst="rect">
            <a:avLst/>
          </a:prstGeom>
          <a:solidFill>
            <a:srgbClr val="0F4A2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2000" b="1">
                <a:solidFill>
                  <a:srgbClr val="FFFFFF"/>
                </a:solidFill>
              </a:rPr>
              <a:t>图片上传</a:t>
            </a:r>
            <a:endParaRPr sz="2000" b="1">
              <a:solidFill>
                <a:srgbClr val="FFFFFF"/>
              </a:solidFill>
            </a:endParaRPr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2000" b="1">
                <a:solidFill>
                  <a:srgbClr val="FFFFFF"/>
                </a:solidFill>
              </a:rPr>
              <a:t>病虫识别</a:t>
            </a:r>
            <a:endParaRPr sz="2000" b="1">
              <a:solidFill>
                <a:srgbClr val="FFFFFF"/>
              </a:solidFill>
            </a:endParaRPr>
          </a:p>
        </p:txBody>
      </p:sp>
      <p:sp>
        <p:nvSpPr>
          <p:cNvPr id="16" name="右箭头 15"/>
          <p:cNvSpPr>
            <a:spLocks noGrp="1"/>
          </p:cNvSpPr>
          <p:nvPr/>
        </p:nvSpPr>
        <p:spPr>
          <a:xfrm>
            <a:off x="2267585" y="3623310"/>
            <a:ext cx="551815" cy="220980"/>
          </a:xfrm>
          <a:prstGeom prst="rightArrow">
            <a:avLst/>
          </a:prstGeom>
          <a:solidFill>
            <a:srgbClr val="74C365"/>
          </a:solidFill>
          <a:ln w="0">
            <a:solidFill>
              <a:srgbClr val="74C365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2819400" y="3295650"/>
            <a:ext cx="1714500" cy="876300"/>
          </a:xfrm>
          <a:prstGeom prst="rect">
            <a:avLst/>
          </a:prstGeom>
          <a:solidFill>
            <a:srgbClr val="2E7D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2000" b="1">
                <a:solidFill>
                  <a:srgbClr val="FFFFFF"/>
                </a:solidFill>
              </a:rPr>
              <a:t>知识图谱</a:t>
            </a:r>
            <a:endParaRPr sz="1200" b="1">
              <a:solidFill>
                <a:srgbClr val="FFFFFF"/>
              </a:solidFill>
            </a:endParaRPr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2000" b="1">
                <a:solidFill>
                  <a:srgbClr val="FFFFFF"/>
                </a:solidFill>
              </a:rPr>
              <a:t>病害关联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085715" y="3295015"/>
            <a:ext cx="1714500" cy="876935"/>
          </a:xfrm>
          <a:prstGeom prst="rect">
            <a:avLst/>
          </a:prstGeom>
          <a:solidFill>
            <a:srgbClr val="74C36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00" b="1">
                <a:solidFill>
                  <a:srgbClr val="0F4A2F"/>
                </a:solidFill>
              </a:defRPr>
            </a:pPr>
            <a:r>
              <a:rPr sz="2000" b="1">
                <a:solidFill>
                  <a:srgbClr val="0F4A2F"/>
                </a:solidFill>
              </a:rPr>
              <a:t>风险预测</a:t>
            </a:r>
            <a:endParaRPr sz="2000" b="1">
              <a:solidFill>
                <a:srgbClr val="0F4A2F"/>
              </a:solidFill>
            </a:endParaRPr>
          </a:p>
          <a:p>
            <a:pPr algn="ctr">
              <a:defRPr sz="1200" b="1">
                <a:solidFill>
                  <a:srgbClr val="0F4A2F"/>
                </a:solidFill>
              </a:defRPr>
            </a:pPr>
            <a:r>
              <a:rPr sz="2000" b="1">
                <a:solidFill>
                  <a:srgbClr val="0F4A2F"/>
                </a:solidFill>
              </a:rPr>
              <a:t>区域预警</a:t>
            </a:r>
            <a:endParaRPr sz="2000" b="1">
              <a:solidFill>
                <a:srgbClr val="0F4A2F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316470" y="3296285"/>
            <a:ext cx="1714500" cy="876300"/>
          </a:xfrm>
          <a:prstGeom prst="rect">
            <a:avLst/>
          </a:prstGeom>
          <a:solidFill>
            <a:srgbClr val="E7B8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00" b="1">
                <a:solidFill>
                  <a:srgbClr val="0F4A2F"/>
                </a:solidFill>
              </a:defRPr>
            </a:pPr>
            <a:r>
              <a:rPr sz="2000" b="1">
                <a:solidFill>
                  <a:srgbClr val="0F4A2F"/>
                </a:solidFill>
              </a:rPr>
              <a:t>AI 问答</a:t>
            </a:r>
            <a:endParaRPr sz="2000" b="1">
              <a:solidFill>
                <a:srgbClr val="0F4A2F"/>
              </a:solidFill>
            </a:endParaRPr>
          </a:p>
          <a:p>
            <a:pPr algn="ctr">
              <a:defRPr sz="1200" b="1">
                <a:solidFill>
                  <a:srgbClr val="0F4A2F"/>
                </a:solidFill>
              </a:defRPr>
            </a:pPr>
            <a:r>
              <a:rPr sz="2000" b="1">
                <a:solidFill>
                  <a:srgbClr val="0F4A2F"/>
                </a:solidFill>
              </a:rPr>
              <a:t>方案生成</a:t>
            </a:r>
            <a:endParaRPr sz="2000" b="1">
              <a:solidFill>
                <a:srgbClr val="0F4A2F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582785" y="3296285"/>
            <a:ext cx="1714500" cy="876300"/>
          </a:xfrm>
          <a:prstGeom prst="rect">
            <a:avLst/>
          </a:prstGeom>
          <a:solidFill>
            <a:srgbClr val="F47C6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2000" b="1">
                <a:solidFill>
                  <a:srgbClr val="FFFFFF"/>
                </a:solidFill>
              </a:rPr>
              <a:t>防治建议</a:t>
            </a:r>
            <a:endParaRPr sz="2000" b="1">
              <a:solidFill>
                <a:srgbClr val="FFFFFF"/>
              </a:solidFill>
            </a:endParaRPr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2000" b="1">
                <a:solidFill>
                  <a:srgbClr val="FFFFFF"/>
                </a:solidFill>
              </a:rPr>
              <a:t>决策落地</a:t>
            </a:r>
            <a:endParaRPr sz="2000" b="1">
              <a:solidFill>
                <a:srgbClr val="FFFFFF"/>
              </a:solidFill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346075" y="5029200"/>
            <a:ext cx="2381250" cy="1085850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9525">
            <a:solidFill>
              <a:srgbClr val="C9DDCB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346075" y="4962525"/>
            <a:ext cx="2381250" cy="66675"/>
          </a:xfrm>
          <a:prstGeom prst="rect">
            <a:avLst/>
          </a:prstGeom>
          <a:solidFill>
            <a:srgbClr val="2E7D32"/>
          </a:solidFill>
          <a:ln w="0">
            <a:solidFill>
              <a:srgbClr val="2E7D32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534670" y="5048250"/>
            <a:ext cx="20383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F4A2F"/>
                </a:solidFill>
              </a:defRPr>
            </a:pPr>
            <a:r>
              <a:rPr sz="3600" b="1">
                <a:solidFill>
                  <a:srgbClr val="0F4A2F"/>
                </a:solidFill>
              </a:rPr>
              <a:t>59</a:t>
            </a:r>
            <a:endParaRPr sz="3600" b="1">
              <a:solidFill>
                <a:srgbClr val="0F4A2F"/>
              </a:solidFill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534670" y="5668010"/>
            <a:ext cx="2124075" cy="5232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1">
                <a:solidFill>
                  <a:srgbClr val="244233"/>
                </a:solidFill>
              </a:defRPr>
            </a:pPr>
            <a:r>
              <a:rPr sz="1800" b="1">
                <a:solidFill>
                  <a:srgbClr val="244233"/>
                </a:solidFill>
              </a:rPr>
              <a:t>支持识别病虫害类别</a:t>
            </a:r>
            <a:endParaRPr sz="1800" b="1">
              <a:solidFill>
                <a:srgbClr val="244233"/>
              </a:solidFill>
            </a:endParaRP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3219450" y="5029200"/>
            <a:ext cx="3238500" cy="1085850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9525">
            <a:solidFill>
              <a:srgbClr val="C9DDCB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3219450" y="4962525"/>
            <a:ext cx="3238500" cy="66675"/>
          </a:xfrm>
          <a:prstGeom prst="rect">
            <a:avLst/>
          </a:prstGeom>
          <a:solidFill>
            <a:srgbClr val="E7B84B"/>
          </a:solidFill>
          <a:ln w="0">
            <a:solidFill>
              <a:srgbClr val="E7B84B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3479800" y="5143500"/>
            <a:ext cx="28956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F4A2F"/>
                </a:solidFill>
              </a:defRPr>
            </a:pPr>
            <a:r>
              <a:rPr sz="3600" b="1">
                <a:solidFill>
                  <a:srgbClr val="0F4A2F"/>
                </a:solidFill>
              </a:rPr>
              <a:t>41 / 12 / 35</a:t>
            </a:r>
            <a:endParaRPr sz="3600" b="1">
              <a:solidFill>
                <a:srgbClr val="0F4A2F"/>
              </a:solidFill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3409950" y="566801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1">
                <a:solidFill>
                  <a:srgbClr val="244233"/>
                </a:solidFill>
              </a:defRPr>
            </a:pPr>
            <a:r>
              <a:rPr sz="1800" b="1">
                <a:solidFill>
                  <a:srgbClr val="244233"/>
                </a:solidFill>
              </a:rPr>
              <a:t>病害 / 虫害 / 作物节点</a:t>
            </a:r>
            <a:endParaRPr sz="1800" b="1">
              <a:solidFill>
                <a:srgbClr val="244233"/>
              </a:solidFill>
            </a:endParaRPr>
          </a:p>
        </p:txBody>
      </p:sp>
      <p:sp>
        <p:nvSpPr>
          <p:cNvPr id="41" name="圆角矩形 40"/>
          <p:cNvSpPr>
            <a:spLocks noGrp="1"/>
          </p:cNvSpPr>
          <p:nvPr/>
        </p:nvSpPr>
        <p:spPr>
          <a:xfrm>
            <a:off x="6686550" y="5029200"/>
            <a:ext cx="2381250" cy="1085850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9525">
            <a:solidFill>
              <a:srgbClr val="C9DDCB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6686550" y="4962525"/>
            <a:ext cx="2381250" cy="66675"/>
          </a:xfrm>
          <a:prstGeom prst="rect">
            <a:avLst/>
          </a:prstGeom>
          <a:solidFill>
            <a:srgbClr val="F47C65"/>
          </a:solidFill>
          <a:ln w="0">
            <a:solidFill>
              <a:srgbClr val="F47C65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6877050" y="5143500"/>
            <a:ext cx="20383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F4A2F"/>
                </a:solidFill>
              </a:defRPr>
            </a:pPr>
            <a:r>
              <a:rPr sz="3600" b="1">
                <a:solidFill>
                  <a:srgbClr val="0F4A2F"/>
                </a:solidFill>
                <a:uFillTx/>
              </a:rPr>
              <a:t>256</a:t>
            </a:r>
            <a:endParaRPr sz="3600" b="1">
              <a:solidFill>
                <a:srgbClr val="0F4A2F"/>
              </a:solidFill>
              <a:uFillTx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6915150" y="566801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1">
                <a:solidFill>
                  <a:srgbClr val="244233"/>
                </a:solidFill>
              </a:defRPr>
            </a:pPr>
            <a:r>
              <a:rPr sz="1800" b="1">
                <a:solidFill>
                  <a:srgbClr val="244233"/>
                </a:solidFill>
                <a:uFillTx/>
              </a:rPr>
              <a:t>防治建议知识条目</a:t>
            </a:r>
            <a:endParaRPr sz="1800" b="1">
              <a:solidFill>
                <a:srgbClr val="244233"/>
              </a:solidFill>
              <a:uFillTx/>
            </a:endParaRPr>
          </a:p>
        </p:txBody>
      </p:sp>
      <p:sp>
        <p:nvSpPr>
          <p:cNvPr id="46" name="圆角矩形 45"/>
          <p:cNvSpPr>
            <a:spLocks noGrp="1"/>
          </p:cNvSpPr>
          <p:nvPr/>
        </p:nvSpPr>
        <p:spPr>
          <a:xfrm>
            <a:off x="9334500" y="5029200"/>
            <a:ext cx="2266950" cy="1085850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9525">
            <a:solidFill>
              <a:srgbClr val="C9DDCB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9296400" y="4962525"/>
            <a:ext cx="2266950" cy="66675"/>
          </a:xfrm>
          <a:prstGeom prst="rect">
            <a:avLst/>
          </a:prstGeom>
          <a:solidFill>
            <a:srgbClr val="0F8C84"/>
          </a:solidFill>
          <a:ln w="0">
            <a:solidFill>
              <a:srgbClr val="0F8C84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9582785" y="5143500"/>
            <a:ext cx="1924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F4A2F"/>
                </a:solidFill>
              </a:defRPr>
            </a:pPr>
            <a:r>
              <a:rPr lang="en-US" sz="3600" b="1">
                <a:solidFill>
                  <a:srgbClr val="0F4A2F"/>
                </a:solidFill>
                <a:uFillTx/>
              </a:rPr>
              <a:t>95</a:t>
            </a:r>
            <a:r>
              <a:rPr sz="3600" b="1">
                <a:solidFill>
                  <a:srgbClr val="0F4A2F"/>
                </a:solidFill>
                <a:uFillTx/>
              </a:rPr>
              <a:t>%+</a:t>
            </a:r>
            <a:endParaRPr sz="3600" b="1">
              <a:solidFill>
                <a:srgbClr val="0F4A2F"/>
              </a:solidFill>
              <a:uFillTx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9525000" y="5668010"/>
            <a:ext cx="1885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1">
                <a:solidFill>
                  <a:srgbClr val="244233"/>
                </a:solidFill>
              </a:defRPr>
            </a:pPr>
            <a:r>
              <a:rPr sz="1800" b="1">
                <a:solidFill>
                  <a:srgbClr val="244233"/>
                </a:solidFill>
                <a:uFillTx/>
              </a:rPr>
              <a:t>单次识别置信展示</a:t>
            </a:r>
            <a:endParaRPr sz="1800" b="1">
              <a:solidFill>
                <a:srgbClr val="244233"/>
              </a:solidFill>
              <a:uFillTx/>
            </a:endParaRPr>
          </a:p>
        </p:txBody>
      </p:sp>
      <p:sp>
        <p:nvSpPr>
          <p:cNvPr id="54" name="右箭头 53"/>
          <p:cNvSpPr>
            <a:spLocks noGrp="1"/>
          </p:cNvSpPr>
          <p:nvPr/>
        </p:nvSpPr>
        <p:spPr>
          <a:xfrm>
            <a:off x="4533900" y="3623310"/>
            <a:ext cx="551815" cy="220980"/>
          </a:xfrm>
          <a:prstGeom prst="rightArrow">
            <a:avLst/>
          </a:prstGeom>
          <a:solidFill>
            <a:srgbClr val="74C365"/>
          </a:solidFill>
          <a:ln w="0">
            <a:solidFill>
              <a:srgbClr val="74C365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56" name="右箭头 55"/>
          <p:cNvSpPr>
            <a:spLocks noGrp="1"/>
          </p:cNvSpPr>
          <p:nvPr/>
        </p:nvSpPr>
        <p:spPr>
          <a:xfrm>
            <a:off x="6764655" y="3623310"/>
            <a:ext cx="551815" cy="220980"/>
          </a:xfrm>
          <a:prstGeom prst="rightArrow">
            <a:avLst/>
          </a:prstGeom>
          <a:solidFill>
            <a:srgbClr val="74C365"/>
          </a:solidFill>
          <a:ln w="0">
            <a:solidFill>
              <a:srgbClr val="74C365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58" name="右箭头 57"/>
          <p:cNvSpPr>
            <a:spLocks noGrp="1"/>
          </p:cNvSpPr>
          <p:nvPr/>
        </p:nvSpPr>
        <p:spPr>
          <a:xfrm>
            <a:off x="9030970" y="3623310"/>
            <a:ext cx="551815" cy="220980"/>
          </a:xfrm>
          <a:prstGeom prst="rightArrow">
            <a:avLst/>
          </a:prstGeom>
          <a:solidFill>
            <a:srgbClr val="74C365"/>
          </a:solidFill>
          <a:ln w="0">
            <a:solidFill>
              <a:srgbClr val="74C365"/>
            </a:solidFill>
            <a:prstDash val="solid"/>
          </a:ln>
        </p:spPr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5"/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1047750"/>
          </a:xfrm>
          <a:prstGeom prst="rect">
            <a:avLst/>
          </a:prstGeom>
          <a:solidFill>
            <a:srgbClr val="0F4A2F"/>
          </a:solidFill>
          <a:ln w="0">
            <a:solidFill>
              <a:srgbClr val="0F4A2F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90500" y="1047750"/>
            <a:ext cx="12192000" cy="5810250"/>
          </a:xfrm>
          <a:prstGeom prst="rect">
            <a:avLst/>
          </a:prstGeom>
          <a:solidFill>
            <a:srgbClr val="F7FBF6"/>
          </a:solidFill>
          <a:ln w="0">
            <a:solidFill>
              <a:srgbClr val="F7FBF6"/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9334500" y="-857250"/>
            <a:ext cx="3048000" cy="2476500"/>
          </a:xfrm>
          <a:prstGeom prst="ellipse">
            <a:avLst/>
          </a:prstGeom>
          <a:solidFill>
            <a:srgbClr val="2E7D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椭圆 5"/>
          <p:cNvSpPr>
            <a:spLocks noGrp="1"/>
          </p:cNvSpPr>
          <p:nvPr/>
        </p:nvSpPr>
        <p:spPr>
          <a:xfrm>
            <a:off x="9906000" y="190500"/>
            <a:ext cx="1905000" cy="1333500"/>
          </a:xfrm>
          <a:prstGeom prst="ellipse">
            <a:avLst/>
          </a:prstGeom>
          <a:solidFill>
            <a:srgbClr val="74C36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椭圆 6"/>
          <p:cNvSpPr>
            <a:spLocks noGrp="1"/>
          </p:cNvSpPr>
          <p:nvPr/>
        </p:nvSpPr>
        <p:spPr>
          <a:xfrm>
            <a:off x="-857250" y="4991100"/>
            <a:ext cx="2095500" cy="1524000"/>
          </a:xfrm>
          <a:prstGeom prst="ellipse">
            <a:avLst/>
          </a:prstGeom>
          <a:solidFill>
            <a:srgbClr val="D8EBD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260350" y="213360"/>
            <a:ext cx="7048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系统架构设计</a:t>
            </a:r>
            <a:endParaRPr sz="3600" b="1">
              <a:solidFill>
                <a:srgbClr val="FFFFFF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60350" y="704850"/>
            <a:ext cx="819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900" b="0">
                <a:solidFill>
                  <a:srgbClr val="D8F0DA"/>
                </a:solidFill>
              </a:defRPr>
            </a:pPr>
            <a:r>
              <a:rPr sz="2000" b="0">
                <a:solidFill>
                  <a:srgbClr val="D8F0DA"/>
                </a:solidFill>
              </a:rPr>
              <a:t>从数据采集到知识服务，形成可扩展的四层技术架构</a:t>
            </a:r>
            <a:endParaRPr sz="2000" b="0">
              <a:solidFill>
                <a:srgbClr val="D8F0DA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90500" y="1595755"/>
            <a:ext cx="6580505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400" b="1">
                <a:solidFill>
                  <a:srgbClr val="0F4A2F"/>
                </a:solidFill>
              </a:defRPr>
            </a:pPr>
            <a:r>
              <a:rPr sz="4800" b="1">
                <a:solidFill>
                  <a:srgbClr val="0F4A2F"/>
                </a:solidFill>
              </a:rPr>
              <a:t>四层架构支撑平台运行</a:t>
            </a:r>
            <a:endParaRPr sz="4800" b="1">
              <a:solidFill>
                <a:srgbClr val="0F4A2F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52730" y="2809875"/>
            <a:ext cx="6629400" cy="647700"/>
          </a:xfrm>
          <a:prstGeom prst="roundRect">
            <a:avLst>
              <a:gd name="adj" fmla="val 11765"/>
            </a:avLst>
          </a:prstGeom>
          <a:solidFill>
            <a:srgbClr val="0F4A2F"/>
          </a:solidFill>
          <a:ln w="0">
            <a:solidFill>
              <a:srgbClr val="0F4A2F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391160" y="3009900"/>
            <a:ext cx="1257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服务应用层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648460" y="2873375"/>
            <a:ext cx="4857750" cy="4597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600" b="0">
                <a:solidFill>
                  <a:srgbClr val="FFFFFF"/>
                </a:solidFill>
              </a:rPr>
              <a:t>首页总览、图片识别、AI 诊断</a:t>
            </a:r>
            <a:endParaRPr sz="1600" b="0">
              <a:solidFill>
                <a:srgbClr val="FFFFFF"/>
              </a:solidFill>
            </a:endParaRPr>
          </a:p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600" b="0">
                <a:solidFill>
                  <a:srgbClr val="FFFFFF"/>
                </a:solidFill>
              </a:rPr>
              <a:t>风险预测、病害地图、知识图谱</a:t>
            </a:r>
            <a:endParaRPr sz="1600" b="0">
              <a:solidFill>
                <a:srgbClr val="FFFFFF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252730" y="3577590"/>
            <a:ext cx="6629400" cy="647700"/>
          </a:xfrm>
          <a:prstGeom prst="roundRect">
            <a:avLst>
              <a:gd name="adj" fmla="val 11765"/>
            </a:avLst>
          </a:prstGeom>
          <a:solidFill>
            <a:srgbClr val="2E7D32"/>
          </a:solidFill>
          <a:ln w="0">
            <a:solidFill>
              <a:srgbClr val="2E7D32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391160" y="3768090"/>
            <a:ext cx="1257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知识决策层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1647825" y="3740150"/>
            <a:ext cx="518541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600" b="0">
                <a:solidFill>
                  <a:srgbClr val="FFFFFF"/>
                </a:solidFill>
              </a:rPr>
              <a:t>病虫害知识图谱、处置建议库、对话诊断引擎、规则推理</a:t>
            </a:r>
            <a:endParaRPr sz="1600" b="0">
              <a:solidFill>
                <a:srgbClr val="FFFFFF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252730" y="4345305"/>
            <a:ext cx="6629400" cy="647700"/>
          </a:xfrm>
          <a:prstGeom prst="roundRect">
            <a:avLst>
              <a:gd name="adj" fmla="val 11765"/>
            </a:avLst>
          </a:prstGeom>
          <a:solidFill>
            <a:srgbClr val="74C365"/>
          </a:solidFill>
          <a:ln w="0">
            <a:solidFill>
              <a:srgbClr val="74C365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391160" y="4511675"/>
            <a:ext cx="1257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1">
                <a:solidFill>
                  <a:srgbClr val="0F4A2F"/>
                </a:solidFill>
              </a:defRPr>
            </a:pPr>
            <a:r>
              <a:rPr sz="1800" b="1">
                <a:solidFill>
                  <a:srgbClr val="0F4A2F"/>
                </a:solidFill>
              </a:rPr>
              <a:t>AI 模型层</a:t>
            </a:r>
            <a:endParaRPr sz="1800" b="1">
              <a:solidFill>
                <a:srgbClr val="0F4A2F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1647825" y="4425315"/>
            <a:ext cx="512254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050" b="0">
                <a:solidFill>
                  <a:srgbClr val="0F4A2F"/>
                </a:solidFill>
              </a:defRPr>
            </a:pPr>
            <a:r>
              <a:rPr sz="1600" b="0">
                <a:solidFill>
                  <a:srgbClr val="0F4A2F"/>
                </a:solidFill>
              </a:rPr>
              <a:t>YOLOv8 图像识别、多标签分类</a:t>
            </a:r>
            <a:endParaRPr sz="1600" b="0">
              <a:solidFill>
                <a:srgbClr val="0F4A2F"/>
              </a:solidFill>
            </a:endParaRPr>
          </a:p>
          <a:p>
            <a:pPr algn="l">
              <a:defRPr sz="1050" b="0">
                <a:solidFill>
                  <a:srgbClr val="0F4A2F"/>
                </a:solidFill>
              </a:defRPr>
            </a:pPr>
            <a:r>
              <a:rPr sz="1600" b="0">
                <a:solidFill>
                  <a:srgbClr val="0F4A2F"/>
                </a:solidFill>
              </a:rPr>
              <a:t>置信度输出、风险评估模型</a:t>
            </a:r>
            <a:endParaRPr sz="1600" b="0">
              <a:solidFill>
                <a:srgbClr val="0F4A2F"/>
              </a:solidFill>
            </a:endParaRPr>
          </a:p>
        </p:txBody>
      </p:sp>
      <p:sp>
        <p:nvSpPr>
          <p:cNvPr id="23" name="圆角矩形 22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252730" y="5113020"/>
            <a:ext cx="6630035" cy="647700"/>
          </a:xfrm>
          <a:prstGeom prst="roundRect">
            <a:avLst>
              <a:gd name="adj" fmla="val 11765"/>
            </a:avLst>
          </a:prstGeom>
          <a:solidFill>
            <a:srgbClr val="D8EBD7"/>
          </a:solidFill>
          <a:ln w="0">
            <a:solidFill>
              <a:srgbClr val="D8EBD7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391160" y="5245735"/>
            <a:ext cx="1257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1">
                <a:solidFill>
                  <a:srgbClr val="0F4A2F"/>
                </a:solidFill>
              </a:defRPr>
            </a:pPr>
            <a:r>
              <a:rPr sz="1800" b="1">
                <a:solidFill>
                  <a:srgbClr val="0F4A2F"/>
                </a:solidFill>
              </a:rPr>
              <a:t>数据采集层</a:t>
            </a:r>
            <a:endParaRPr sz="1800" b="1">
              <a:solidFill>
                <a:srgbClr val="0F4A2F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1647825" y="5295265"/>
            <a:ext cx="497014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050" b="0">
                <a:solidFill>
                  <a:srgbClr val="0F4A2F"/>
                </a:solidFill>
              </a:defRPr>
            </a:pPr>
            <a:r>
              <a:rPr sz="1600" b="0">
                <a:solidFill>
                  <a:srgbClr val="0F4A2F"/>
                </a:solidFill>
              </a:rPr>
              <a:t>作物图片、病害样本、气象因子、区域分布、历史案例</a:t>
            </a:r>
            <a:endParaRPr sz="1600" b="0">
              <a:solidFill>
                <a:srgbClr val="0F4A2F"/>
              </a:solidFill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7239000" y="1771650"/>
            <a:ext cx="4324350" cy="432435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C9DDCB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7505700" y="2038350"/>
            <a:ext cx="2012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1">
                <a:solidFill>
                  <a:srgbClr val="0F4A2F"/>
                </a:solidFill>
              </a:defRPr>
            </a:pPr>
            <a:r>
              <a:rPr sz="2400" b="1">
                <a:solidFill>
                  <a:srgbClr val="0F4A2F"/>
                </a:solidFill>
              </a:rPr>
              <a:t>核心处理链路</a:t>
            </a:r>
            <a:endParaRPr sz="2400" b="1">
              <a:solidFill>
                <a:srgbClr val="0F4A2F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677150" y="2609850"/>
            <a:ext cx="1238250" cy="685800"/>
          </a:xfrm>
          <a:prstGeom prst="rect">
            <a:avLst/>
          </a:prstGeom>
          <a:solidFill>
            <a:srgbClr val="0F4A2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图像输入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9220200" y="2609850"/>
            <a:ext cx="1238250" cy="685800"/>
          </a:xfrm>
          <a:prstGeom prst="rect">
            <a:avLst/>
          </a:prstGeom>
          <a:solidFill>
            <a:srgbClr val="2E7D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目标检测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7677150" y="3638550"/>
            <a:ext cx="1238250" cy="685800"/>
          </a:xfrm>
          <a:prstGeom prst="rect">
            <a:avLst/>
          </a:prstGeom>
          <a:solidFill>
            <a:srgbClr val="74C36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00" b="1">
                <a:solidFill>
                  <a:srgbClr val="0F4A2F"/>
                </a:solidFill>
              </a:defRPr>
            </a:pPr>
            <a:r>
              <a:rPr sz="1600" b="1">
                <a:solidFill>
                  <a:srgbClr val="0F4A2F"/>
                </a:solidFill>
              </a:rPr>
              <a:t>病害命名</a:t>
            </a:r>
            <a:endParaRPr sz="1600" b="1">
              <a:solidFill>
                <a:srgbClr val="0F4A2F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9220200" y="3638550"/>
            <a:ext cx="1238250" cy="685800"/>
          </a:xfrm>
          <a:prstGeom prst="rect">
            <a:avLst/>
          </a:prstGeom>
          <a:solidFill>
            <a:srgbClr val="E7B8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00" b="1">
                <a:solidFill>
                  <a:srgbClr val="0F4A2F"/>
                </a:solidFill>
              </a:defRPr>
            </a:pPr>
            <a:r>
              <a:rPr sz="1600" b="1">
                <a:solidFill>
                  <a:srgbClr val="0F4A2F"/>
                </a:solidFill>
              </a:rPr>
              <a:t>知识匹配</a:t>
            </a:r>
            <a:endParaRPr sz="1600" b="1">
              <a:solidFill>
                <a:srgbClr val="0F4A2F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7677150" y="4667250"/>
            <a:ext cx="1238250" cy="685800"/>
          </a:xfrm>
          <a:prstGeom prst="rect">
            <a:avLst/>
          </a:prstGeom>
          <a:solidFill>
            <a:srgbClr val="0F8C8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风险预测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9220200" y="4667250"/>
            <a:ext cx="1238250" cy="685800"/>
          </a:xfrm>
          <a:prstGeom prst="rect">
            <a:avLst/>
          </a:prstGeom>
          <a:solidFill>
            <a:srgbClr val="F47C6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方案生成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8915400" y="2933700"/>
            <a:ext cx="209550" cy="38100"/>
          </a:xfrm>
          <a:prstGeom prst="rect">
            <a:avLst/>
          </a:prstGeom>
          <a:solidFill>
            <a:srgbClr val="74C365"/>
          </a:solidFill>
          <a:ln w="0">
            <a:solidFill>
              <a:srgbClr val="74C365"/>
            </a:solidFill>
            <a:prstDash val="solid"/>
          </a:ln>
        </p:spPr>
      </p:sp>
      <p:sp>
        <p:nvSpPr>
          <p:cNvPr id="35" name="右箭头 34"/>
          <p:cNvSpPr>
            <a:spLocks noGrp="1"/>
          </p:cNvSpPr>
          <p:nvPr/>
        </p:nvSpPr>
        <p:spPr>
          <a:xfrm>
            <a:off x="9029700" y="2857500"/>
            <a:ext cx="209550" cy="190500"/>
          </a:xfrm>
          <a:prstGeom prst="rightArrow">
            <a:avLst/>
          </a:prstGeom>
          <a:solidFill>
            <a:srgbClr val="74C365"/>
          </a:solidFill>
          <a:ln w="0">
            <a:solidFill>
              <a:srgbClr val="74C365"/>
            </a:solidFill>
            <a:prstDash val="solid"/>
          </a:ln>
        </p:spPr>
      </p:sp>
      <p:sp>
        <p:nvSpPr>
          <p:cNvPr id="37" name="右箭头 36"/>
          <p:cNvSpPr>
            <a:spLocks noGrp="1"/>
          </p:cNvSpPr>
          <p:nvPr/>
        </p:nvSpPr>
        <p:spPr>
          <a:xfrm>
            <a:off x="8820150" y="3905250"/>
            <a:ext cx="209550" cy="190500"/>
          </a:xfrm>
          <a:prstGeom prst="rightArrow">
            <a:avLst/>
          </a:prstGeom>
          <a:solidFill>
            <a:srgbClr val="74C365"/>
          </a:solidFill>
          <a:ln w="0">
            <a:solidFill>
              <a:srgbClr val="74C365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8915400" y="4991100"/>
            <a:ext cx="209550" cy="38100"/>
          </a:xfrm>
          <a:prstGeom prst="rect">
            <a:avLst/>
          </a:prstGeom>
          <a:solidFill>
            <a:srgbClr val="74C365"/>
          </a:solidFill>
          <a:ln w="0">
            <a:solidFill>
              <a:srgbClr val="74C365"/>
            </a:solidFill>
            <a:prstDash val="solid"/>
          </a:ln>
        </p:spPr>
      </p:sp>
      <p:sp>
        <p:nvSpPr>
          <p:cNvPr id="39" name="右箭头 38"/>
          <p:cNvSpPr>
            <a:spLocks noGrp="1"/>
          </p:cNvSpPr>
          <p:nvPr/>
        </p:nvSpPr>
        <p:spPr>
          <a:xfrm>
            <a:off x="9029700" y="4914900"/>
            <a:ext cx="209550" cy="190500"/>
          </a:xfrm>
          <a:prstGeom prst="rightArrow">
            <a:avLst/>
          </a:prstGeom>
          <a:solidFill>
            <a:srgbClr val="74C365"/>
          </a:solidFill>
          <a:ln w="0">
            <a:solidFill>
              <a:srgbClr val="74C365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5"/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1047750"/>
          </a:xfrm>
          <a:prstGeom prst="rect">
            <a:avLst/>
          </a:prstGeom>
          <a:solidFill>
            <a:srgbClr val="0F4A2F"/>
          </a:solidFill>
          <a:ln w="0">
            <a:solidFill>
              <a:srgbClr val="0F4A2F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1047750"/>
            <a:ext cx="12192000" cy="5810250"/>
          </a:xfrm>
          <a:prstGeom prst="rect">
            <a:avLst/>
          </a:prstGeom>
          <a:solidFill>
            <a:srgbClr val="F7FBF6"/>
          </a:solidFill>
          <a:ln w="0">
            <a:solidFill>
              <a:srgbClr val="F7FBF6"/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9334500" y="-857250"/>
            <a:ext cx="3048000" cy="2476500"/>
          </a:xfrm>
          <a:prstGeom prst="ellipse">
            <a:avLst/>
          </a:prstGeom>
          <a:solidFill>
            <a:srgbClr val="2E7D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椭圆 5"/>
          <p:cNvSpPr>
            <a:spLocks noGrp="1"/>
          </p:cNvSpPr>
          <p:nvPr/>
        </p:nvSpPr>
        <p:spPr>
          <a:xfrm>
            <a:off x="9906000" y="190500"/>
            <a:ext cx="1905000" cy="1333500"/>
          </a:xfrm>
          <a:prstGeom prst="ellipse">
            <a:avLst/>
          </a:prstGeom>
          <a:solidFill>
            <a:srgbClr val="74C36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椭圆 6"/>
          <p:cNvSpPr>
            <a:spLocks noGrp="1"/>
          </p:cNvSpPr>
          <p:nvPr/>
        </p:nvSpPr>
        <p:spPr>
          <a:xfrm>
            <a:off x="-857250" y="5143500"/>
            <a:ext cx="2095500" cy="1524000"/>
          </a:xfrm>
          <a:prstGeom prst="ellipse">
            <a:avLst/>
          </a:prstGeom>
          <a:solidFill>
            <a:srgbClr val="D8EBD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283845" y="228600"/>
            <a:ext cx="7048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  <a:uFillTx/>
              </a:rPr>
              <a:t>项目创新点</a:t>
            </a:r>
            <a:endParaRPr sz="3600" b="1">
              <a:solidFill>
                <a:srgbClr val="FFFFFF"/>
              </a:solidFill>
              <a:uFillTx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83845" y="1657350"/>
            <a:ext cx="10572115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F4A2F"/>
                </a:solidFill>
              </a:defRPr>
            </a:pPr>
            <a:r>
              <a:rPr sz="4800" b="1">
                <a:solidFill>
                  <a:srgbClr val="0F4A2F"/>
                </a:solidFill>
              </a:rPr>
              <a:t>相较单一识别工具，更强调完整闭环</a:t>
            </a:r>
            <a:endParaRPr sz="4800" b="1">
              <a:solidFill>
                <a:srgbClr val="0F4A2F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09600" y="3102610"/>
            <a:ext cx="2628900" cy="240284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9525">
            <a:solidFill>
              <a:srgbClr val="C9DDCB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09600" y="3429000"/>
            <a:ext cx="76200" cy="2076450"/>
          </a:xfrm>
          <a:prstGeom prst="rect">
            <a:avLst/>
          </a:prstGeom>
          <a:solidFill>
            <a:srgbClr val="2E7D32"/>
          </a:solidFill>
          <a:ln w="0">
            <a:solidFill>
              <a:srgbClr val="2E7D32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838200" y="3600450"/>
            <a:ext cx="2247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1">
                <a:solidFill>
                  <a:srgbClr val="173124"/>
                </a:solidFill>
              </a:defRPr>
            </a:pPr>
            <a:r>
              <a:rPr sz="2000" b="1">
                <a:solidFill>
                  <a:srgbClr val="173124"/>
                </a:solidFill>
                <a:uFillTx/>
              </a:rPr>
              <a:t>创新点 1</a:t>
            </a:r>
            <a:endParaRPr sz="2000" b="1">
              <a:solidFill>
                <a:srgbClr val="173124"/>
              </a:solidFill>
              <a:uFillTx/>
            </a:endParaRPr>
          </a:p>
          <a:p>
            <a:pPr algn="l">
              <a:defRPr sz="1350" b="1">
                <a:solidFill>
                  <a:srgbClr val="173124"/>
                </a:solidFill>
              </a:defRPr>
            </a:pPr>
            <a:r>
              <a:rPr lang="zh-CN" sz="2000" b="1">
                <a:solidFill>
                  <a:srgbClr val="FF0000"/>
                </a:solidFill>
                <a:uFillTx/>
              </a:rPr>
              <a:t>精准</a:t>
            </a:r>
            <a:r>
              <a:rPr sz="2000" b="1">
                <a:solidFill>
                  <a:srgbClr val="FF0000"/>
                </a:solidFill>
                <a:uFillTx/>
              </a:rPr>
              <a:t>识别</a:t>
            </a:r>
            <a:r>
              <a:rPr sz="2000" b="1">
                <a:solidFill>
                  <a:srgbClr val="173124"/>
                </a:solidFill>
                <a:uFillTx/>
              </a:rPr>
              <a:t> </a:t>
            </a:r>
            <a:endParaRPr sz="2000" b="1">
              <a:solidFill>
                <a:srgbClr val="173124"/>
              </a:solidFill>
              <a:uFillTx/>
            </a:endParaRPr>
          </a:p>
        </p:txBody>
      </p:sp>
      <p:sp>
        <p:nvSpPr>
          <p:cNvPr id="17" name="矩形 16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838200" y="4268470"/>
            <a:ext cx="22098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050" b="0">
                <a:solidFill>
                  <a:srgbClr val="244233"/>
                </a:solidFill>
              </a:defRPr>
            </a:pPr>
            <a:r>
              <a:rPr lang="en-US" altLang="zh-CN" sz="1600" b="0">
                <a:solidFill>
                  <a:srgbClr val="244233"/>
                </a:solidFill>
              </a:rPr>
              <a:t>YOLOv8+CNN</a:t>
            </a:r>
            <a:r>
              <a:rPr lang="zh-CN" altLang="en-US" sz="1600" b="0">
                <a:solidFill>
                  <a:srgbClr val="244233"/>
                </a:solidFill>
              </a:rPr>
              <a:t>双模型协同检测架构有效解</a:t>
            </a:r>
            <a:r>
              <a:rPr lang="zh-CN" altLang="en-US" sz="1600" b="0">
                <a:solidFill>
                  <a:srgbClr val="244233"/>
                </a:solidFill>
              </a:rPr>
              <a:t>解决单一模型在农业病害细粒度分类任务中面临的置信度模糊问题。</a:t>
            </a:r>
            <a:endParaRPr lang="zh-CN" altLang="en-US" sz="1600" b="0">
              <a:solidFill>
                <a:srgbClr val="244233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4724400" y="3102610"/>
            <a:ext cx="2628900" cy="240284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9525">
            <a:solidFill>
              <a:srgbClr val="C9DDCB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724400" y="3429000"/>
            <a:ext cx="76200" cy="2076450"/>
          </a:xfrm>
          <a:prstGeom prst="rect">
            <a:avLst/>
          </a:prstGeom>
          <a:solidFill>
            <a:srgbClr val="E7B84B"/>
          </a:solidFill>
          <a:ln w="0">
            <a:solidFill>
              <a:srgbClr val="E7B84B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4953000" y="3600450"/>
            <a:ext cx="2247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3124"/>
                </a:solidFill>
              </a:defRPr>
            </a:pPr>
            <a:r>
              <a:rPr sz="2000" b="1">
                <a:solidFill>
                  <a:srgbClr val="173124"/>
                </a:solidFill>
              </a:rPr>
              <a:t>创新点 2</a:t>
            </a:r>
            <a:endParaRPr sz="2000" b="1">
              <a:solidFill>
                <a:srgbClr val="173124"/>
              </a:solidFill>
            </a:endParaRPr>
          </a:p>
          <a:p>
            <a:pPr algn="l">
              <a:defRPr sz="1350" b="1">
                <a:solidFill>
                  <a:srgbClr val="173124"/>
                </a:solidFill>
              </a:defRPr>
            </a:pPr>
            <a:r>
              <a:rPr sz="2000" b="1">
                <a:solidFill>
                  <a:srgbClr val="FF0000"/>
                </a:solidFill>
              </a:rPr>
              <a:t>知识图谱</a:t>
            </a:r>
            <a:r>
              <a:rPr lang="zh-CN" sz="2000" b="1">
                <a:solidFill>
                  <a:srgbClr val="FF0000"/>
                </a:solidFill>
              </a:rPr>
              <a:t>可视化</a:t>
            </a:r>
            <a:endParaRPr lang="zh-CN" sz="2000" b="1">
              <a:solidFill>
                <a:srgbClr val="FF0000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4933950" y="4268470"/>
            <a:ext cx="22098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244233"/>
                </a:solidFill>
              </a:defRPr>
            </a:pPr>
            <a:r>
              <a:rPr lang="zh-CN" altLang="en-US" sz="1600" b="0">
                <a:solidFill>
                  <a:srgbClr val="244233"/>
                </a:solidFill>
              </a:rPr>
              <a:t>构建一个面向农业病虫害诊断的智能知识图谱，通过</a:t>
            </a:r>
            <a:r>
              <a:rPr lang="zh-CN" altLang="en-US" sz="1600" b="0">
                <a:solidFill>
                  <a:srgbClr val="244233"/>
                </a:solidFill>
              </a:rPr>
              <a:t>智能推理，输出结构化、标准化的病虫害诊断知识。</a:t>
            </a:r>
            <a:endParaRPr lang="zh-CN" altLang="en-US" sz="1600" b="0">
              <a:solidFill>
                <a:srgbClr val="244233"/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8839200" y="3103245"/>
            <a:ext cx="2628900" cy="2402205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9525">
            <a:solidFill>
              <a:srgbClr val="C9DDCB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8839200" y="3429000"/>
            <a:ext cx="76200" cy="2076450"/>
          </a:xfrm>
          <a:prstGeom prst="rect">
            <a:avLst/>
          </a:prstGeom>
          <a:solidFill>
            <a:srgbClr val="F47C65"/>
          </a:solidFill>
          <a:ln w="0">
            <a:solidFill>
              <a:srgbClr val="F47C65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9067800" y="3600450"/>
            <a:ext cx="2247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3124"/>
                </a:solidFill>
              </a:defRPr>
            </a:pPr>
            <a:r>
              <a:rPr sz="2000" b="1">
                <a:solidFill>
                  <a:srgbClr val="173124"/>
                </a:solidFill>
              </a:rPr>
              <a:t>创新点 3</a:t>
            </a:r>
            <a:endParaRPr sz="2000" b="1">
              <a:solidFill>
                <a:srgbClr val="173124"/>
              </a:solidFill>
            </a:endParaRPr>
          </a:p>
          <a:p>
            <a:pPr algn="l">
              <a:defRPr sz="1350" b="1">
                <a:solidFill>
                  <a:srgbClr val="173124"/>
                </a:solidFill>
              </a:defRPr>
            </a:pPr>
            <a:r>
              <a:rPr lang="zh-CN" sz="2000" b="1">
                <a:solidFill>
                  <a:srgbClr val="FF0000"/>
                </a:solidFill>
              </a:rPr>
              <a:t>动态区域感知</a:t>
            </a:r>
            <a:endParaRPr lang="zh-CN" sz="2000" b="1">
              <a:solidFill>
                <a:srgbClr val="FF0000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9048750" y="4268470"/>
            <a:ext cx="22098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244233"/>
                </a:solidFill>
              </a:defRPr>
            </a:pPr>
            <a:r>
              <a:rPr lang="zh-CN" sz="1600" b="0">
                <a:solidFill>
                  <a:srgbClr val="244233"/>
                </a:solidFill>
              </a:rPr>
              <a:t>项目接入高德地图，</a:t>
            </a:r>
            <a:r>
              <a:rPr lang="zh-CN" altLang="en-US" sz="1600" b="0">
                <a:solidFill>
                  <a:srgbClr val="244233"/>
                </a:solidFill>
              </a:rPr>
              <a:t>将单点病虫害诊断从个体行为提升为区域性的态势感知能力。</a:t>
            </a:r>
            <a:endParaRPr lang="zh-CN" altLang="en-US" sz="1600" b="0">
              <a:solidFill>
                <a:srgbClr val="244233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5"/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rPr lang="zh-CN" altLang="en-US"/>
              <a:t>粗检测锁定候选集、精分类从中择优”</a:t>
            </a:r>
            <a:endParaRPr lang="zh-CN" altLang="en-US"/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1047750"/>
          </a:xfrm>
          <a:prstGeom prst="rect">
            <a:avLst/>
          </a:prstGeom>
          <a:solidFill>
            <a:srgbClr val="0F4A2F"/>
          </a:solidFill>
          <a:ln w="0">
            <a:solidFill>
              <a:srgbClr val="0F4A2F"/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9334500" y="-857250"/>
            <a:ext cx="3048000" cy="2476500"/>
          </a:xfrm>
          <a:prstGeom prst="ellipse">
            <a:avLst/>
          </a:prstGeom>
          <a:solidFill>
            <a:srgbClr val="2E7D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椭圆 5"/>
          <p:cNvSpPr>
            <a:spLocks noGrp="1"/>
          </p:cNvSpPr>
          <p:nvPr/>
        </p:nvSpPr>
        <p:spPr>
          <a:xfrm>
            <a:off x="9906000" y="190500"/>
            <a:ext cx="1905000" cy="1333500"/>
          </a:xfrm>
          <a:prstGeom prst="ellipse">
            <a:avLst/>
          </a:prstGeom>
          <a:solidFill>
            <a:srgbClr val="74C36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椭圆 6"/>
          <p:cNvSpPr>
            <a:spLocks noGrp="1"/>
          </p:cNvSpPr>
          <p:nvPr/>
        </p:nvSpPr>
        <p:spPr>
          <a:xfrm>
            <a:off x="-857250" y="5143500"/>
            <a:ext cx="2095500" cy="1524000"/>
          </a:xfrm>
          <a:prstGeom prst="ellipse">
            <a:avLst/>
          </a:prstGeom>
          <a:solidFill>
            <a:srgbClr val="D8EBD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381000" y="190500"/>
            <a:ext cx="7048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1">
                <a:solidFill>
                  <a:srgbClr val="FFFFFF"/>
                </a:solidFill>
              </a:defRPr>
            </a:pPr>
            <a:r>
              <a:rPr lang="zh-CN" sz="3600" b="1">
                <a:solidFill>
                  <a:srgbClr val="FFFFFF"/>
                </a:solidFill>
              </a:rPr>
              <a:t>双模型辅助精准</a:t>
            </a:r>
            <a:r>
              <a:rPr lang="zh-CN" sz="3600" b="1">
                <a:solidFill>
                  <a:srgbClr val="FFFFFF"/>
                </a:solidFill>
              </a:rPr>
              <a:t>识别</a:t>
            </a:r>
            <a:endParaRPr lang="zh-CN" sz="3600" b="1">
              <a:solidFill>
                <a:srgbClr val="FFFFFF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81000" y="742950"/>
            <a:ext cx="819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900" b="0">
                <a:solidFill>
                  <a:srgbClr val="D8F0DA"/>
                </a:solidFill>
              </a:defRPr>
            </a:pPr>
            <a:r>
              <a:rPr sz="2000" b="0">
                <a:solidFill>
                  <a:srgbClr val="D8F0DA"/>
                </a:solidFill>
              </a:rPr>
              <a:t>基于 YOLOv8 深度学习模型与知识图谱构建专业农业识别引擎</a:t>
            </a:r>
            <a:endParaRPr sz="2000" b="0">
              <a:solidFill>
                <a:srgbClr val="D8F0DA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00050" y="2505710"/>
            <a:ext cx="819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400" b="1">
                <a:solidFill>
                  <a:srgbClr val="0F4A2F"/>
                </a:solidFill>
              </a:defRPr>
            </a:pPr>
            <a:endParaRPr lang="zh-CN" sz="4800" b="1">
              <a:solidFill>
                <a:srgbClr val="0F4A2F"/>
              </a:solidFill>
              <a:uFillTx/>
            </a:endParaRPr>
          </a:p>
        </p:txBody>
      </p:sp>
      <p:sp>
        <p:nvSpPr>
          <p:cNvPr id="13" name="副标题 12"/>
          <p:cNvSpPr/>
          <p:nvPr>
            <p:ph type="subTitle" idx="1"/>
          </p:nvPr>
        </p:nvSpPr>
        <p:spPr>
          <a:xfrm>
            <a:off x="1524000" y="4053523"/>
            <a:ext cx="9144000" cy="1655762"/>
          </a:xfrm>
        </p:spPr>
        <p:txBody>
          <a:bodyPr/>
          <a:p>
            <a:endParaRPr lang="zh-CN" altLang="en-US"/>
          </a:p>
        </p:txBody>
      </p:sp>
      <p:pic>
        <p:nvPicPr>
          <p:cNvPr id="74" name="图片 16" descr="2d60cc32dfb68a60a69341ea5047e36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8450" y="1985010"/>
            <a:ext cx="3642995" cy="3451225"/>
          </a:xfrm>
          <a:prstGeom prst="rect">
            <a:avLst/>
          </a:prstGeom>
        </p:spPr>
      </p:pic>
      <p:pic>
        <p:nvPicPr>
          <p:cNvPr id="76" name="图片 7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3235" y="2212975"/>
            <a:ext cx="3949700" cy="2771775"/>
          </a:xfrm>
          <a:prstGeom prst="rect">
            <a:avLst/>
          </a:prstGeom>
        </p:spPr>
      </p:pic>
      <p:sp>
        <p:nvSpPr>
          <p:cNvPr id="78" name="圆角矩形 77"/>
          <p:cNvSpPr/>
          <p:nvPr/>
        </p:nvSpPr>
        <p:spPr>
          <a:xfrm>
            <a:off x="8431530" y="2335530"/>
            <a:ext cx="3321050" cy="29464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latin typeface="Cambria" panose="02040503050406030204" charset="0"/>
                <a:ea typeface="黑体" panose="02010609060101010101" charset="-122"/>
                <a:cs typeface="Cambria" panose="02040503050406030204" charset="0"/>
              </a:rPr>
              <a:t>YOLOv8</a:t>
            </a:r>
            <a:r>
              <a:rPr lang="zh-CN" altLang="en-US">
                <a:latin typeface="Cambria" panose="02040503050406030204" charset="0"/>
                <a:ea typeface="黑体" panose="02010609060101010101" charset="-122"/>
                <a:cs typeface="Cambria" panose="02040503050406030204" charset="0"/>
              </a:rPr>
              <a:t>粗识别</a:t>
            </a:r>
            <a:r>
              <a:rPr lang="en-US" altLang="zh-CN">
                <a:latin typeface="Cambria" panose="02040503050406030204" charset="0"/>
                <a:ea typeface="黑体" panose="02010609060101010101" charset="-122"/>
                <a:cs typeface="Cambria" panose="02040503050406030204" charset="0"/>
              </a:rPr>
              <a:t>+CNN</a:t>
            </a:r>
            <a:r>
              <a:rPr lang="zh-CN" altLang="en-US">
                <a:latin typeface="Cambria" panose="02040503050406030204" charset="0"/>
                <a:ea typeface="黑体" panose="02010609060101010101" charset="-122"/>
                <a:cs typeface="Cambria" panose="02040503050406030204" charset="0"/>
              </a:rPr>
              <a:t>精准划</a:t>
            </a:r>
            <a:endParaRPr lang="zh-CN" altLang="en-US">
              <a:latin typeface="Cambria" panose="02040503050406030204" charset="0"/>
              <a:ea typeface="黑体" panose="02010609060101010101" charset="-122"/>
              <a:cs typeface="Cambria" panose="02040503050406030204" charset="0"/>
            </a:endParaRPr>
          </a:p>
          <a:p>
            <a:pPr algn="ctr"/>
            <a:r>
              <a:rPr lang="zh-CN" altLang="en-US">
                <a:latin typeface="Cambria" panose="02040503050406030204" charset="0"/>
                <a:ea typeface="黑体" panose="02010609060101010101" charset="-122"/>
                <a:cs typeface="Cambria" panose="02040503050406030204" charset="0"/>
              </a:rPr>
              <a:t>分，系统自动检查阈值是否高于</a:t>
            </a:r>
            <a:r>
              <a:rPr lang="en-US" altLang="zh-CN">
                <a:latin typeface="Cambria" panose="02040503050406030204" charset="0"/>
                <a:ea typeface="黑体" panose="02010609060101010101" charset="-122"/>
                <a:cs typeface="Cambria" panose="02040503050406030204" charset="0"/>
              </a:rPr>
              <a:t>0.75.</a:t>
            </a:r>
            <a:r>
              <a:rPr lang="zh-CN" altLang="en-US">
                <a:latin typeface="Cambria" panose="02040503050406030204" charset="0"/>
                <a:ea typeface="黑体" panose="02010609060101010101" charset="-122"/>
                <a:cs typeface="Cambria" panose="02040503050406030204" charset="0"/>
              </a:rPr>
              <a:t>高于阈值则直接采纳，反之则启用</a:t>
            </a:r>
            <a:r>
              <a:rPr lang="en-US" altLang="zh-CN">
                <a:latin typeface="Cambria" panose="02040503050406030204" charset="0"/>
                <a:ea typeface="黑体" panose="02010609060101010101" charset="-122"/>
                <a:cs typeface="Cambria" panose="02040503050406030204" charset="0"/>
              </a:rPr>
              <a:t>CNN</a:t>
            </a:r>
            <a:endParaRPr lang="en-US" altLang="zh-CN">
              <a:latin typeface="Cambria" panose="02040503050406030204" charset="0"/>
              <a:ea typeface="黑体" panose="02010609060101010101" charset="-122"/>
              <a:cs typeface="Cambria" panose="0204050305040603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animBg="1"/>
      <p:bldP spid="78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5"/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rPr lang="zh-CN" altLang="en-US"/>
              <a:t>粗检测锁定候选集、精分类从中择优”</a:t>
            </a:r>
            <a:endParaRPr lang="zh-CN" altLang="en-US"/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1047750"/>
          </a:xfrm>
          <a:prstGeom prst="rect">
            <a:avLst/>
          </a:prstGeom>
          <a:solidFill>
            <a:srgbClr val="0F4A2F"/>
          </a:solidFill>
          <a:ln w="0">
            <a:solidFill>
              <a:srgbClr val="0F4A2F"/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9334500" y="-857250"/>
            <a:ext cx="3048000" cy="2476500"/>
          </a:xfrm>
          <a:prstGeom prst="ellipse">
            <a:avLst/>
          </a:prstGeom>
          <a:solidFill>
            <a:srgbClr val="2E7D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椭圆 5"/>
          <p:cNvSpPr>
            <a:spLocks noGrp="1"/>
          </p:cNvSpPr>
          <p:nvPr/>
        </p:nvSpPr>
        <p:spPr>
          <a:xfrm>
            <a:off x="9906000" y="190500"/>
            <a:ext cx="1905000" cy="1333500"/>
          </a:xfrm>
          <a:prstGeom prst="ellipse">
            <a:avLst/>
          </a:prstGeom>
          <a:solidFill>
            <a:srgbClr val="74C36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椭圆 6"/>
          <p:cNvSpPr>
            <a:spLocks noGrp="1"/>
          </p:cNvSpPr>
          <p:nvPr/>
        </p:nvSpPr>
        <p:spPr>
          <a:xfrm>
            <a:off x="-857250" y="5143500"/>
            <a:ext cx="2095500" cy="1524000"/>
          </a:xfrm>
          <a:prstGeom prst="ellipse">
            <a:avLst/>
          </a:prstGeom>
          <a:solidFill>
            <a:srgbClr val="D8EBD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381000" y="190500"/>
            <a:ext cx="7048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1">
                <a:solidFill>
                  <a:srgbClr val="FFFFFF"/>
                </a:solidFill>
              </a:defRPr>
            </a:pPr>
            <a:r>
              <a:rPr lang="zh-CN" sz="3600" b="1">
                <a:solidFill>
                  <a:srgbClr val="FFFFFF"/>
                </a:solidFill>
              </a:rPr>
              <a:t>双模型辅助精准</a:t>
            </a:r>
            <a:r>
              <a:rPr lang="zh-CN" sz="3600" b="1">
                <a:solidFill>
                  <a:srgbClr val="FFFFFF"/>
                </a:solidFill>
              </a:rPr>
              <a:t>识别</a:t>
            </a:r>
            <a:endParaRPr lang="zh-CN" sz="3600" b="1">
              <a:solidFill>
                <a:srgbClr val="FFFFFF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81000" y="742950"/>
            <a:ext cx="819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900" b="0">
                <a:solidFill>
                  <a:srgbClr val="D8F0DA"/>
                </a:solidFill>
              </a:defRPr>
            </a:pPr>
            <a:r>
              <a:rPr sz="2000" b="0">
                <a:solidFill>
                  <a:srgbClr val="D8F0DA"/>
                </a:solidFill>
              </a:rPr>
              <a:t>基于 YOLOv8 深度学习模型与知识图谱构建专业农业识别引擎</a:t>
            </a:r>
            <a:endParaRPr sz="2000" b="0">
              <a:solidFill>
                <a:srgbClr val="D8F0DA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-3561080" y="2625725"/>
            <a:ext cx="819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400" b="1">
                <a:solidFill>
                  <a:srgbClr val="0F4A2F"/>
                </a:solidFill>
              </a:defRPr>
            </a:pPr>
            <a:endParaRPr lang="zh-CN" sz="4800" b="1">
              <a:solidFill>
                <a:srgbClr val="0F4A2F"/>
              </a:solidFill>
              <a:uFillTx/>
            </a:endParaRPr>
          </a:p>
        </p:txBody>
      </p:sp>
      <p:sp>
        <p:nvSpPr>
          <p:cNvPr id="80" name="圆角矩形 79"/>
          <p:cNvSpPr/>
          <p:nvPr/>
        </p:nvSpPr>
        <p:spPr>
          <a:xfrm>
            <a:off x="9396095" y="1762125"/>
            <a:ext cx="1441450" cy="76200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sz="2000">
                <a:solidFill>
                  <a:srgbClr val="D8F0DA"/>
                </a:solidFill>
              </a:rPr>
              <a:t>用户</a:t>
            </a:r>
            <a:r>
              <a:rPr lang="en-US" sz="2000">
                <a:solidFill>
                  <a:srgbClr val="D8F0DA"/>
                </a:solidFill>
              </a:rPr>
              <a:t>“</a:t>
            </a:r>
            <a:r>
              <a:rPr sz="2000">
                <a:solidFill>
                  <a:srgbClr val="D8F0DA"/>
                </a:solidFill>
              </a:rPr>
              <a:t>输入</a:t>
            </a:r>
            <a:r>
              <a:rPr lang="en-US" sz="2000">
                <a:solidFill>
                  <a:srgbClr val="D8F0DA"/>
                </a:solidFill>
              </a:rPr>
              <a:t>”</a:t>
            </a:r>
            <a:endParaRPr lang="en-US" sz="2000">
              <a:solidFill>
                <a:srgbClr val="D8F0DA"/>
              </a:solidFill>
            </a:endParaRPr>
          </a:p>
        </p:txBody>
      </p:sp>
      <p:sp>
        <p:nvSpPr>
          <p:cNvPr id="81" name="圆角矩形 80"/>
          <p:cNvSpPr/>
          <p:nvPr/>
        </p:nvSpPr>
        <p:spPr>
          <a:xfrm>
            <a:off x="9161145" y="3195955"/>
            <a:ext cx="1911350" cy="762000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2000">
                <a:solidFill>
                  <a:srgbClr val="D8F0DA"/>
                </a:solidFill>
              </a:rPr>
              <a:t>图像预处理及</a:t>
            </a:r>
            <a:r>
              <a:rPr lang="zh-CN" sz="2000">
                <a:solidFill>
                  <a:srgbClr val="D8F0DA"/>
                </a:solidFill>
              </a:rPr>
              <a:t>提取特征</a:t>
            </a:r>
            <a:endParaRPr lang="zh-CN" sz="2000">
              <a:solidFill>
                <a:srgbClr val="D8F0DA"/>
              </a:solidFill>
            </a:endParaRPr>
          </a:p>
        </p:txBody>
      </p:sp>
      <p:sp>
        <p:nvSpPr>
          <p:cNvPr id="82" name="圆角矩形 81"/>
          <p:cNvSpPr/>
          <p:nvPr/>
        </p:nvSpPr>
        <p:spPr>
          <a:xfrm>
            <a:off x="9196070" y="4629785"/>
            <a:ext cx="1911350" cy="762000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2000">
                <a:solidFill>
                  <a:srgbClr val="D8F0DA"/>
                </a:solidFill>
              </a:rPr>
              <a:t>分类</a:t>
            </a:r>
            <a:r>
              <a:rPr lang="zh-CN" sz="2000">
                <a:solidFill>
                  <a:srgbClr val="D8F0DA"/>
                </a:solidFill>
              </a:rPr>
              <a:t>并输出检测</a:t>
            </a:r>
            <a:r>
              <a:rPr lang="zh-CN" sz="2000">
                <a:solidFill>
                  <a:srgbClr val="D8F0DA"/>
                </a:solidFill>
              </a:rPr>
              <a:t>结果</a:t>
            </a:r>
            <a:endParaRPr lang="zh-CN" sz="2000">
              <a:solidFill>
                <a:srgbClr val="D8F0DA"/>
              </a:solidFill>
            </a:endParaRPr>
          </a:p>
        </p:txBody>
      </p:sp>
      <p:pic>
        <p:nvPicPr>
          <p:cNvPr id="13" name="图片 12" descr="f87ca6c747308c66e5f531e214c2927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745" y="1394460"/>
            <a:ext cx="7564120" cy="4499610"/>
          </a:xfrm>
          <a:prstGeom prst="rect">
            <a:avLst/>
          </a:prstGeom>
        </p:spPr>
      </p:pic>
      <p:sp>
        <p:nvSpPr>
          <p:cNvPr id="14" name="下箭头 13"/>
          <p:cNvSpPr/>
          <p:nvPr/>
        </p:nvSpPr>
        <p:spPr>
          <a:xfrm>
            <a:off x="9968230" y="2536190"/>
            <a:ext cx="297180" cy="64770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下箭头 14"/>
          <p:cNvSpPr/>
          <p:nvPr/>
        </p:nvSpPr>
        <p:spPr>
          <a:xfrm>
            <a:off x="9968230" y="3981450"/>
            <a:ext cx="297180" cy="64770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 animBg="1"/>
      <p:bldP spid="80" grpId="1" animBg="1"/>
      <p:bldP spid="14" grpId="0" animBg="1"/>
      <p:bldP spid="14" grpId="1" animBg="1"/>
      <p:bldP spid="81" grpId="0" animBg="1"/>
      <p:bldP spid="81" grpId="1" animBg="1"/>
      <p:bldP spid="15" grpId="0" animBg="1"/>
      <p:bldP spid="15" grpId="1" animBg="1"/>
      <p:bldP spid="82" grpId="0" animBg="1"/>
      <p:bldP spid="82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5"/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1047750"/>
          </a:xfrm>
          <a:prstGeom prst="rect">
            <a:avLst/>
          </a:prstGeom>
          <a:solidFill>
            <a:srgbClr val="0F4A2F"/>
          </a:solidFill>
          <a:ln w="0">
            <a:solidFill>
              <a:srgbClr val="0F4A2F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1047750"/>
            <a:ext cx="12192000" cy="5810250"/>
          </a:xfrm>
          <a:prstGeom prst="rect">
            <a:avLst/>
          </a:prstGeom>
          <a:solidFill>
            <a:srgbClr val="F7FBF6"/>
          </a:solidFill>
          <a:ln w="0">
            <a:solidFill>
              <a:srgbClr val="F7FBF6"/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9334500" y="-857250"/>
            <a:ext cx="3048000" cy="2476500"/>
          </a:xfrm>
          <a:prstGeom prst="ellipse">
            <a:avLst/>
          </a:prstGeom>
          <a:solidFill>
            <a:srgbClr val="2E7D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椭圆 5"/>
          <p:cNvSpPr>
            <a:spLocks noGrp="1"/>
          </p:cNvSpPr>
          <p:nvPr/>
        </p:nvSpPr>
        <p:spPr>
          <a:xfrm>
            <a:off x="9906000" y="190500"/>
            <a:ext cx="1905000" cy="1333500"/>
          </a:xfrm>
          <a:prstGeom prst="ellipse">
            <a:avLst/>
          </a:prstGeom>
          <a:solidFill>
            <a:srgbClr val="74C36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椭圆 6"/>
          <p:cNvSpPr>
            <a:spLocks noGrp="1"/>
          </p:cNvSpPr>
          <p:nvPr/>
        </p:nvSpPr>
        <p:spPr>
          <a:xfrm>
            <a:off x="-857250" y="5143500"/>
            <a:ext cx="2095500" cy="1524000"/>
          </a:xfrm>
          <a:prstGeom prst="ellipse">
            <a:avLst/>
          </a:prstGeom>
          <a:solidFill>
            <a:srgbClr val="D8EBD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417830" y="157480"/>
            <a:ext cx="7048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  <a:uFillTx/>
              </a:rPr>
              <a:t>知识图谱</a:t>
            </a:r>
            <a:r>
              <a:rPr lang="zh-CN" sz="3600" b="1">
                <a:solidFill>
                  <a:srgbClr val="FFFFFF"/>
                </a:solidFill>
                <a:uFillTx/>
              </a:rPr>
              <a:t>可视化</a:t>
            </a:r>
            <a:endParaRPr lang="zh-CN" sz="3600" b="1">
              <a:solidFill>
                <a:srgbClr val="FFFFFF"/>
              </a:solidFill>
              <a:uFillTx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17830" y="744855"/>
            <a:ext cx="819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900" b="0">
                <a:solidFill>
                  <a:srgbClr val="D8F0DA"/>
                </a:solidFill>
              </a:defRPr>
            </a:pPr>
            <a:r>
              <a:rPr sz="2000" b="0">
                <a:solidFill>
                  <a:srgbClr val="D8F0DA"/>
                </a:solidFill>
                <a:uFillTx/>
              </a:rPr>
              <a:t>将病害知识、治理方案与自然语言交互融合为智能决策助手</a:t>
            </a:r>
            <a:endParaRPr sz="2000" b="0">
              <a:solidFill>
                <a:srgbClr val="D8F0DA"/>
              </a:solidFill>
              <a:uFillTx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13715" y="1468120"/>
            <a:ext cx="10361930" cy="56261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400" b="1">
                <a:solidFill>
                  <a:srgbClr val="0F4A2F"/>
                </a:solidFill>
              </a:defRPr>
            </a:pPr>
            <a:r>
              <a:rPr sz="4800" b="1">
                <a:solidFill>
                  <a:srgbClr val="0F4A2F"/>
                </a:solidFill>
                <a:uFillTx/>
              </a:rPr>
              <a:t>知识“可搜索、可理解、可问答”</a:t>
            </a:r>
            <a:endParaRPr sz="4800" b="1">
              <a:solidFill>
                <a:srgbClr val="0F4A2F"/>
              </a:solidFill>
              <a:uFillTx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859790" y="2852420"/>
            <a:ext cx="4889500" cy="29235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C9DDCB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009650" y="3124200"/>
            <a:ext cx="204851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1">
                <a:solidFill>
                  <a:srgbClr val="0F4A2F"/>
                </a:solidFill>
              </a:defRPr>
            </a:pPr>
            <a:r>
              <a:rPr sz="2400" b="1">
                <a:solidFill>
                  <a:srgbClr val="0F4A2F"/>
                </a:solidFill>
                <a:uFillTx/>
              </a:rPr>
              <a:t>知识图谱结构</a:t>
            </a:r>
            <a:endParaRPr sz="2400" b="1">
              <a:solidFill>
                <a:srgbClr val="0F4A2F"/>
              </a:solidFill>
              <a:uFillTx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009650" y="4324350"/>
            <a:ext cx="1047750" cy="533400"/>
          </a:xfrm>
          <a:prstGeom prst="rect">
            <a:avLst/>
          </a:prstGeom>
          <a:solidFill>
            <a:srgbClr val="2E7D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2000" b="1">
                <a:solidFill>
                  <a:srgbClr val="FFFFFF"/>
                </a:solidFill>
              </a:rPr>
              <a:t>作物</a:t>
            </a:r>
            <a:endParaRPr sz="2000" b="1">
              <a:solidFill>
                <a:srgbClr val="FFFFFF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2400300" y="3867150"/>
            <a:ext cx="1047750" cy="533400"/>
          </a:xfrm>
          <a:prstGeom prst="rect">
            <a:avLst/>
          </a:prstGeom>
          <a:solidFill>
            <a:srgbClr val="0F4A2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2000" b="1">
                <a:solidFill>
                  <a:srgbClr val="FFFFFF"/>
                </a:solidFill>
                <a:uFillTx/>
              </a:rPr>
              <a:t>病害</a:t>
            </a:r>
            <a:endParaRPr sz="2000" b="1">
              <a:solidFill>
                <a:srgbClr val="FFFFFF"/>
              </a:solidFill>
              <a:uFillTx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400300" y="4914900"/>
            <a:ext cx="1047750" cy="533400"/>
          </a:xfrm>
          <a:prstGeom prst="rect">
            <a:avLst/>
          </a:prstGeom>
          <a:solidFill>
            <a:srgbClr val="E7B8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00" b="1">
                <a:solidFill>
                  <a:srgbClr val="0F4A2F"/>
                </a:solidFill>
              </a:defRPr>
            </a:pPr>
            <a:r>
              <a:rPr sz="2000" b="1">
                <a:solidFill>
                  <a:srgbClr val="0F4A2F"/>
                </a:solidFill>
                <a:uFillTx/>
              </a:rPr>
              <a:t>虫害</a:t>
            </a:r>
            <a:endParaRPr sz="2000" b="1">
              <a:solidFill>
                <a:srgbClr val="0F4A2F"/>
              </a:solidFill>
              <a:uFillTx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810000" y="3867150"/>
            <a:ext cx="1047750" cy="533400"/>
          </a:xfrm>
          <a:prstGeom prst="rect">
            <a:avLst/>
          </a:prstGeom>
          <a:solidFill>
            <a:srgbClr val="74C36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00" b="1">
                <a:solidFill>
                  <a:srgbClr val="0F4A2F"/>
                </a:solidFill>
              </a:defRPr>
            </a:pPr>
            <a:r>
              <a:rPr sz="2000" b="1">
                <a:solidFill>
                  <a:srgbClr val="0F4A2F"/>
                </a:solidFill>
              </a:rPr>
              <a:t>症状</a:t>
            </a:r>
            <a:endParaRPr sz="2000" b="1">
              <a:solidFill>
                <a:srgbClr val="0F4A2F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3810000" y="4914900"/>
            <a:ext cx="1047750" cy="533400"/>
          </a:xfrm>
          <a:prstGeom prst="rect">
            <a:avLst/>
          </a:prstGeom>
          <a:solidFill>
            <a:srgbClr val="F47C6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2000" b="1">
                <a:solidFill>
                  <a:srgbClr val="FFFFFF"/>
                </a:solidFill>
              </a:rPr>
              <a:t>方案</a:t>
            </a:r>
            <a:endParaRPr sz="2000" b="1">
              <a:solidFill>
                <a:srgbClr val="FFFFFF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2076450" y="4552950"/>
            <a:ext cx="266700" cy="38100"/>
          </a:xfrm>
          <a:prstGeom prst="rect">
            <a:avLst/>
          </a:prstGeom>
          <a:solidFill>
            <a:srgbClr val="74C365"/>
          </a:solidFill>
          <a:ln w="0">
            <a:solidFill>
              <a:srgbClr val="74C365"/>
            </a:solidFill>
            <a:prstDash val="solid"/>
          </a:ln>
        </p:spPr>
      </p:sp>
      <p:sp>
        <p:nvSpPr>
          <p:cNvPr id="22" name="右箭头 21"/>
          <p:cNvSpPr>
            <a:spLocks noGrp="1"/>
          </p:cNvSpPr>
          <p:nvPr/>
        </p:nvSpPr>
        <p:spPr>
          <a:xfrm>
            <a:off x="2457450" y="4362450"/>
            <a:ext cx="209550" cy="190500"/>
          </a:xfrm>
          <a:prstGeom prst="rightArrow">
            <a:avLst/>
          </a:prstGeom>
          <a:solidFill>
            <a:srgbClr val="74C365"/>
          </a:solidFill>
          <a:ln w="0">
            <a:solidFill>
              <a:srgbClr val="74C365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3467100" y="4095750"/>
            <a:ext cx="266700" cy="38100"/>
          </a:xfrm>
          <a:prstGeom prst="rect">
            <a:avLst/>
          </a:prstGeom>
          <a:solidFill>
            <a:srgbClr val="74C365"/>
          </a:solidFill>
          <a:ln w="0">
            <a:solidFill>
              <a:srgbClr val="74C365"/>
            </a:solidFill>
            <a:prstDash val="solid"/>
          </a:ln>
        </p:spPr>
      </p:sp>
      <p:sp>
        <p:nvSpPr>
          <p:cNvPr id="24" name="右箭头 23"/>
          <p:cNvSpPr>
            <a:spLocks noGrp="1"/>
          </p:cNvSpPr>
          <p:nvPr/>
        </p:nvSpPr>
        <p:spPr>
          <a:xfrm>
            <a:off x="3638550" y="4019550"/>
            <a:ext cx="209550" cy="190500"/>
          </a:xfrm>
          <a:prstGeom prst="rightArrow">
            <a:avLst/>
          </a:prstGeom>
          <a:solidFill>
            <a:srgbClr val="74C365"/>
          </a:solidFill>
          <a:ln w="0">
            <a:solidFill>
              <a:srgbClr val="74C365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3467100" y="5143500"/>
            <a:ext cx="266700" cy="38100"/>
          </a:xfrm>
          <a:prstGeom prst="rect">
            <a:avLst/>
          </a:prstGeom>
          <a:solidFill>
            <a:srgbClr val="74C365"/>
          </a:solidFill>
          <a:ln w="0">
            <a:solidFill>
              <a:srgbClr val="74C365"/>
            </a:solidFill>
            <a:prstDash val="solid"/>
          </a:ln>
        </p:spPr>
      </p:sp>
      <p:sp>
        <p:nvSpPr>
          <p:cNvPr id="26" name="右箭头 25"/>
          <p:cNvSpPr>
            <a:spLocks noGrp="1"/>
          </p:cNvSpPr>
          <p:nvPr/>
        </p:nvSpPr>
        <p:spPr>
          <a:xfrm>
            <a:off x="3638550" y="5067300"/>
            <a:ext cx="209550" cy="190500"/>
          </a:xfrm>
          <a:prstGeom prst="rightArrow">
            <a:avLst/>
          </a:prstGeom>
          <a:solidFill>
            <a:srgbClr val="74C365"/>
          </a:solidFill>
          <a:ln w="0">
            <a:solidFill>
              <a:srgbClr val="74C365"/>
            </a:solidFill>
            <a:prstDash val="solid"/>
          </a:ln>
        </p:spPr>
      </p:sp>
      <p:pic>
        <p:nvPicPr>
          <p:cNvPr id="10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9855" y="2545080"/>
            <a:ext cx="3618865" cy="374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15" grpId="1" animBg="1"/>
      <p:bldP spid="16" grpId="1" animBg="1"/>
      <p:bldP spid="17" grpId="1" animBg="1"/>
      <p:bldP spid="18" grpId="1" animBg="1"/>
      <p:bldP spid="19" grpId="1" animBg="1"/>
      <p:bldP spid="20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5"/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1047750"/>
          </a:xfrm>
          <a:prstGeom prst="rect">
            <a:avLst/>
          </a:prstGeom>
          <a:solidFill>
            <a:srgbClr val="0F4A2F"/>
          </a:solidFill>
          <a:ln w="0">
            <a:solidFill>
              <a:srgbClr val="0F4A2F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1047750"/>
            <a:ext cx="12192000" cy="5810250"/>
          </a:xfrm>
          <a:prstGeom prst="rect">
            <a:avLst/>
          </a:prstGeom>
          <a:solidFill>
            <a:srgbClr val="F7FBF6"/>
          </a:solidFill>
          <a:ln w="0">
            <a:solidFill>
              <a:srgbClr val="F7FBF6"/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9334500" y="-857250"/>
            <a:ext cx="3048000" cy="2476500"/>
          </a:xfrm>
          <a:prstGeom prst="ellipse">
            <a:avLst/>
          </a:prstGeom>
          <a:solidFill>
            <a:srgbClr val="2E7D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椭圆 5"/>
          <p:cNvSpPr>
            <a:spLocks noGrp="1"/>
          </p:cNvSpPr>
          <p:nvPr/>
        </p:nvSpPr>
        <p:spPr>
          <a:xfrm>
            <a:off x="9906000" y="190500"/>
            <a:ext cx="1905000" cy="1333500"/>
          </a:xfrm>
          <a:prstGeom prst="ellipse">
            <a:avLst/>
          </a:prstGeom>
          <a:solidFill>
            <a:srgbClr val="74C36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椭圆 6"/>
          <p:cNvSpPr>
            <a:spLocks noGrp="1"/>
          </p:cNvSpPr>
          <p:nvPr/>
        </p:nvSpPr>
        <p:spPr>
          <a:xfrm>
            <a:off x="-857250" y="5143500"/>
            <a:ext cx="2095500" cy="1524000"/>
          </a:xfrm>
          <a:prstGeom prst="ellipse">
            <a:avLst/>
          </a:prstGeom>
          <a:solidFill>
            <a:srgbClr val="D8EBD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299720" y="190500"/>
            <a:ext cx="7048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1">
                <a:solidFill>
                  <a:srgbClr val="FFFFFF"/>
                </a:solidFill>
              </a:defRPr>
            </a:pPr>
            <a:r>
              <a:rPr lang="zh-CN" sz="3600" b="1">
                <a:solidFill>
                  <a:srgbClr val="FFFFFF"/>
                </a:solidFill>
                <a:uFillTx/>
              </a:rPr>
              <a:t>动态区域感知</a:t>
            </a:r>
            <a:endParaRPr lang="zh-CN" sz="3600" b="1">
              <a:solidFill>
                <a:srgbClr val="FFFFFF"/>
              </a:solidFill>
              <a:uFillTx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99720" y="689610"/>
            <a:ext cx="819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900" b="0">
                <a:solidFill>
                  <a:srgbClr val="D8F0DA"/>
                </a:solidFill>
              </a:defRPr>
            </a:pPr>
            <a:r>
              <a:rPr sz="2000" b="0">
                <a:solidFill>
                  <a:srgbClr val="D8F0DA"/>
                </a:solidFill>
                <a:uFillTx/>
              </a:rPr>
              <a:t>结合环境因子与时空分布，实现趋势预测与重点区域定位</a:t>
            </a:r>
            <a:endParaRPr sz="2000" b="0">
              <a:solidFill>
                <a:srgbClr val="D8F0DA"/>
              </a:solidFill>
              <a:uFillTx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99720" y="1714500"/>
            <a:ext cx="10006330" cy="68135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400" b="1">
                <a:solidFill>
                  <a:srgbClr val="0F4A2F"/>
                </a:solidFill>
              </a:defRPr>
            </a:pPr>
            <a:r>
              <a:rPr sz="4800" b="1">
                <a:solidFill>
                  <a:srgbClr val="0F4A2F"/>
                </a:solidFill>
                <a:uFillTx/>
              </a:rPr>
              <a:t>风险趋势 + 地图联动提升主动性</a:t>
            </a:r>
            <a:endParaRPr sz="4800" b="1">
              <a:solidFill>
                <a:srgbClr val="0F4A2F"/>
              </a:solidFill>
              <a:uFillTx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299720" y="2952750"/>
            <a:ext cx="7239000" cy="3048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9DDCB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528320" y="3211830"/>
            <a:ext cx="6819900" cy="79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200" b="1">
                <a:solidFill>
                  <a:srgbClr val="173124"/>
                </a:solidFill>
              </a:defRPr>
            </a:pPr>
            <a:r>
              <a:rPr sz="2400" b="1">
                <a:solidFill>
                  <a:srgbClr val="173124"/>
                </a:solidFill>
                <a:uFillTx/>
              </a:rPr>
              <a:t>7 天病害风险趋势</a:t>
            </a:r>
            <a:endParaRPr sz="2400" b="1">
              <a:solidFill>
                <a:srgbClr val="173124"/>
              </a:solidFill>
              <a:uFillTx/>
            </a:endParaRPr>
          </a:p>
        </p:txBody>
      </p:sp>
      <p:graphicFrame>
        <p:nvGraphicFramePr>
          <p:cNvPr id="16" name="Chart"/>
          <p:cNvGraphicFramePr/>
          <p:nvPr/>
        </p:nvGraphicFramePr>
        <p:xfrm>
          <a:off x="490220" y="3772535"/>
          <a:ext cx="6667500" cy="2190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7" name="圆角矩形 16"/>
          <p:cNvSpPr>
            <a:spLocks noGrp="1"/>
          </p:cNvSpPr>
          <p:nvPr/>
        </p:nvSpPr>
        <p:spPr>
          <a:xfrm>
            <a:off x="8105775" y="2988310"/>
            <a:ext cx="3390900" cy="3048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9DDCB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543925" y="3211195"/>
            <a:ext cx="19716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1">
                <a:solidFill>
                  <a:srgbClr val="0F4A2F"/>
                </a:solidFill>
              </a:defRPr>
            </a:pPr>
            <a:r>
              <a:rPr sz="2400" b="1">
                <a:solidFill>
                  <a:srgbClr val="0F4A2F"/>
                </a:solidFill>
                <a:uFillTx/>
              </a:rPr>
              <a:t>区域高发概览</a:t>
            </a:r>
            <a:endParaRPr sz="2400" b="1">
              <a:solidFill>
                <a:srgbClr val="0F4A2F"/>
              </a:solidFill>
              <a:uFillTx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8305800" y="3733800"/>
            <a:ext cx="2876550" cy="1524000"/>
          </a:xfrm>
          <a:prstGeom prst="roundRect">
            <a:avLst>
              <a:gd name="adj" fmla="val 5000"/>
            </a:avLst>
          </a:prstGeom>
          <a:solidFill>
            <a:srgbClr val="EAF6E8"/>
          </a:solidFill>
          <a:ln w="9525">
            <a:solidFill>
              <a:srgbClr val="D8EBD7"/>
            </a:solidFill>
            <a:prstDash val="solid"/>
          </a:ln>
        </p:spPr>
      </p:sp>
      <p:sp>
        <p:nvSpPr>
          <p:cNvPr id="20" name="椭圆 19"/>
          <p:cNvSpPr>
            <a:spLocks noGrp="1"/>
          </p:cNvSpPr>
          <p:nvPr/>
        </p:nvSpPr>
        <p:spPr>
          <a:xfrm>
            <a:off x="8763000" y="4142105"/>
            <a:ext cx="209550" cy="209550"/>
          </a:xfrm>
          <a:prstGeom prst="ellipse">
            <a:avLst/>
          </a:prstGeom>
          <a:solidFill>
            <a:srgbClr val="F47C65"/>
          </a:solidFill>
          <a:ln w="0">
            <a:solidFill>
              <a:srgbClr val="F47C65"/>
            </a:solidFill>
            <a:prstDash val="solid"/>
          </a:ln>
        </p:spPr>
      </p:sp>
      <p:sp>
        <p:nvSpPr>
          <p:cNvPr id="21" name="椭圆 20"/>
          <p:cNvSpPr>
            <a:spLocks noGrp="1"/>
          </p:cNvSpPr>
          <p:nvPr/>
        </p:nvSpPr>
        <p:spPr>
          <a:xfrm>
            <a:off x="9334500" y="4641215"/>
            <a:ext cx="209550" cy="209550"/>
          </a:xfrm>
          <a:prstGeom prst="ellipse">
            <a:avLst/>
          </a:prstGeom>
          <a:solidFill>
            <a:srgbClr val="E7B84B"/>
          </a:solidFill>
          <a:ln w="0">
            <a:solidFill>
              <a:srgbClr val="E7B84B"/>
            </a:solidFill>
            <a:prstDash val="solid"/>
          </a:ln>
        </p:spPr>
      </p:sp>
      <p:sp>
        <p:nvSpPr>
          <p:cNvPr id="22" name="椭圆 21"/>
          <p:cNvSpPr>
            <a:spLocks noGrp="1"/>
          </p:cNvSpPr>
          <p:nvPr/>
        </p:nvSpPr>
        <p:spPr>
          <a:xfrm>
            <a:off x="10096500" y="4142105"/>
            <a:ext cx="209550" cy="209550"/>
          </a:xfrm>
          <a:prstGeom prst="ellipse">
            <a:avLst/>
          </a:prstGeom>
          <a:solidFill>
            <a:srgbClr val="4A90E2"/>
          </a:solidFill>
          <a:ln w="0">
            <a:solidFill>
              <a:srgbClr val="4A90E2"/>
            </a:solidFill>
            <a:prstDash val="solid"/>
          </a:ln>
        </p:spPr>
      </p:sp>
      <p:sp>
        <p:nvSpPr>
          <p:cNvPr id="23" name="椭圆 22"/>
          <p:cNvSpPr>
            <a:spLocks noGrp="1"/>
          </p:cNvSpPr>
          <p:nvPr/>
        </p:nvSpPr>
        <p:spPr>
          <a:xfrm>
            <a:off x="10598150" y="4781550"/>
            <a:ext cx="209550" cy="209550"/>
          </a:xfrm>
          <a:prstGeom prst="ellipse">
            <a:avLst/>
          </a:prstGeom>
          <a:solidFill>
            <a:srgbClr val="2E7D32"/>
          </a:solidFill>
          <a:ln w="0">
            <a:solidFill>
              <a:srgbClr val="2E7D32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8420100" y="5400675"/>
            <a:ext cx="27622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244233"/>
                </a:solidFill>
              </a:defRPr>
            </a:pPr>
            <a:r>
              <a:rPr sz="975" b="0">
                <a:solidFill>
                  <a:srgbClr val="244233"/>
                </a:solidFill>
              </a:rPr>
              <a:t>示例区域：河北、河南、湖北、江苏等地出现高发预警点</a:t>
            </a:r>
            <a:endParaRPr sz="975" b="0">
              <a:solidFill>
                <a:srgbClr val="244233"/>
              </a:solidFill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8420100" y="5781675"/>
            <a:ext cx="142875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C9DDCB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8420100" y="5706745"/>
            <a:ext cx="1428750" cy="66675"/>
          </a:xfrm>
          <a:prstGeom prst="rect">
            <a:avLst/>
          </a:prstGeom>
          <a:solidFill>
            <a:srgbClr val="F47C65"/>
          </a:solidFill>
          <a:ln w="0">
            <a:solidFill>
              <a:srgbClr val="F47C65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8610600" y="5781675"/>
            <a:ext cx="10858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7280"/>
          </a:bodyPr>
          <a:lstStyle/>
          <a:p>
            <a:pPr algn="l">
              <a:defRPr sz="2400" b="1">
                <a:solidFill>
                  <a:srgbClr val="0F4A2F"/>
                </a:solidFill>
              </a:defRPr>
            </a:pPr>
            <a:r>
              <a:rPr sz="2400" b="1">
                <a:solidFill>
                  <a:srgbClr val="0F4A2F"/>
                </a:solidFill>
              </a:rPr>
              <a:t>72%</a:t>
            </a:r>
            <a:endParaRPr sz="2400" b="1">
              <a:solidFill>
                <a:srgbClr val="0F4A2F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610600" y="6136640"/>
            <a:ext cx="119951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1">
                <a:solidFill>
                  <a:srgbClr val="244233"/>
                </a:solidFill>
              </a:defRPr>
            </a:pPr>
            <a:r>
              <a:rPr sz="1400" b="1">
                <a:solidFill>
                  <a:srgbClr val="244233"/>
                </a:solidFill>
              </a:rPr>
              <a:t>平均风险指数</a:t>
            </a:r>
            <a:endParaRPr sz="1400" b="1">
              <a:solidFill>
                <a:srgbClr val="244233"/>
              </a:solidFill>
            </a:endParaRPr>
          </a:p>
        </p:txBody>
      </p:sp>
      <p:sp>
        <p:nvSpPr>
          <p:cNvPr id="30" name="圆角矩形 29"/>
          <p:cNvSpPr>
            <a:spLocks noGrp="1"/>
          </p:cNvSpPr>
          <p:nvPr/>
        </p:nvSpPr>
        <p:spPr>
          <a:xfrm>
            <a:off x="9906000" y="5773420"/>
            <a:ext cx="16002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C9DDCB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9906000" y="5709920"/>
            <a:ext cx="1600200" cy="66675"/>
          </a:xfrm>
          <a:prstGeom prst="rect">
            <a:avLst/>
          </a:prstGeom>
          <a:solidFill>
            <a:srgbClr val="E7B84B"/>
          </a:solidFill>
          <a:ln w="0">
            <a:solidFill>
              <a:srgbClr val="E7B84B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10096500" y="5781675"/>
            <a:ext cx="12573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7280"/>
          </a:bodyPr>
          <a:lstStyle/>
          <a:p>
            <a:pPr algn="l">
              <a:defRPr sz="2400" b="1">
                <a:solidFill>
                  <a:srgbClr val="0F4A2F"/>
                </a:solidFill>
              </a:defRPr>
            </a:pPr>
            <a:r>
              <a:rPr sz="2400" b="1">
                <a:solidFill>
                  <a:srgbClr val="0F4A2F"/>
                </a:solidFill>
              </a:rPr>
              <a:t>23</a:t>
            </a:r>
            <a:endParaRPr sz="2400" b="1">
              <a:solidFill>
                <a:srgbClr val="0F4A2F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0134600" y="6125210"/>
            <a:ext cx="1219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44233"/>
                </a:solidFill>
              </a:defRPr>
            </a:pPr>
            <a:r>
              <a:rPr sz="1400" b="1">
                <a:solidFill>
                  <a:srgbClr val="244233"/>
                </a:solidFill>
              </a:rPr>
              <a:t>影响区域</a:t>
            </a:r>
            <a:endParaRPr sz="1400" b="1">
              <a:solidFill>
                <a:srgbClr val="244233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4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15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16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5" grpId="1" animBg="1"/>
      <p:bldP spid="18" grpId="0" animBg="1"/>
      <p:bldP spid="24" grpId="0" animBg="1"/>
      <p:bldP spid="27" grpId="0" animBg="1"/>
      <p:bldP spid="28" grpId="0" animBg="1"/>
      <p:bldP spid="32" grpId="0" animBg="1"/>
      <p:bldP spid="33" grpId="0" animBg="1"/>
      <p:bldP spid="18" grpId="1" animBg="1"/>
      <p:bldP spid="24" grpId="1" animBg="1"/>
      <p:bldP spid="27" grpId="1" animBg="1"/>
      <p:bldP spid="28" grpId="1" animBg="1"/>
      <p:bldP spid="32" grpId="1" animBg="1"/>
      <p:bldP spid="33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5"/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1047750"/>
          </a:xfrm>
          <a:prstGeom prst="rect">
            <a:avLst/>
          </a:prstGeom>
          <a:solidFill>
            <a:srgbClr val="0F4A2F"/>
          </a:solidFill>
          <a:ln w="0">
            <a:solidFill>
              <a:srgbClr val="0F4A2F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1047750"/>
            <a:ext cx="12192000" cy="5810250"/>
          </a:xfrm>
          <a:prstGeom prst="rect">
            <a:avLst/>
          </a:prstGeom>
          <a:solidFill>
            <a:srgbClr val="F7FBF6"/>
          </a:solidFill>
          <a:ln w="0">
            <a:solidFill>
              <a:srgbClr val="F7FBF6"/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9334500" y="-857250"/>
            <a:ext cx="3048000" cy="2476500"/>
          </a:xfrm>
          <a:prstGeom prst="ellipse">
            <a:avLst/>
          </a:prstGeom>
          <a:solidFill>
            <a:srgbClr val="2E7D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椭圆 5"/>
          <p:cNvSpPr>
            <a:spLocks noGrp="1"/>
          </p:cNvSpPr>
          <p:nvPr/>
        </p:nvSpPr>
        <p:spPr>
          <a:xfrm>
            <a:off x="9906000" y="190500"/>
            <a:ext cx="1905000" cy="1333500"/>
          </a:xfrm>
          <a:prstGeom prst="ellipse">
            <a:avLst/>
          </a:prstGeom>
          <a:solidFill>
            <a:srgbClr val="74C36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椭圆 6"/>
          <p:cNvSpPr>
            <a:spLocks noGrp="1"/>
          </p:cNvSpPr>
          <p:nvPr/>
        </p:nvSpPr>
        <p:spPr>
          <a:xfrm>
            <a:off x="-857250" y="5143500"/>
            <a:ext cx="2095500" cy="1524000"/>
          </a:xfrm>
          <a:prstGeom prst="ellipse">
            <a:avLst/>
          </a:prstGeom>
          <a:solidFill>
            <a:srgbClr val="D8EBD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244475" y="190500"/>
            <a:ext cx="7048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  <a:uFillTx/>
              </a:rPr>
              <a:t>核心功能展示</a:t>
            </a:r>
            <a:endParaRPr sz="3600" b="1">
              <a:solidFill>
                <a:srgbClr val="FFFFFF"/>
              </a:solidFill>
              <a:uFillTx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44475" y="696595"/>
            <a:ext cx="819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900" b="0">
                <a:solidFill>
                  <a:srgbClr val="D8F0DA"/>
                </a:solidFill>
              </a:defRPr>
            </a:pPr>
            <a:r>
              <a:rPr sz="2000" b="0">
                <a:solidFill>
                  <a:srgbClr val="D8F0DA"/>
                </a:solidFill>
                <a:uFillTx/>
              </a:rPr>
              <a:t>围绕生产场景设计六大业务能力，覆盖识别、诊断、预警与决策</a:t>
            </a:r>
            <a:endParaRPr sz="2000" b="0">
              <a:solidFill>
                <a:srgbClr val="D8F0DA"/>
              </a:solidFill>
              <a:uFillTx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44475" y="1619250"/>
            <a:ext cx="7375525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400" b="1">
                <a:solidFill>
                  <a:srgbClr val="0F4A2F"/>
                </a:solidFill>
              </a:defRPr>
            </a:pPr>
            <a:r>
              <a:rPr sz="4800" b="1">
                <a:solidFill>
                  <a:srgbClr val="0F4A2F"/>
                </a:solidFill>
                <a:uFillTx/>
              </a:rPr>
              <a:t>六大核心模块服务实际场景</a:t>
            </a:r>
            <a:endParaRPr sz="4800" b="1">
              <a:solidFill>
                <a:srgbClr val="0F4A2F"/>
              </a:solidFill>
              <a:uFillTx/>
            </a:endParaRPr>
          </a:p>
        </p:txBody>
      </p:sp>
      <p:sp>
        <p:nvSpPr>
          <p:cNvPr id="14" name="圆角矩形 1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44475" y="2971800"/>
            <a:ext cx="3048000" cy="148590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C9DDCB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09600" y="2971800"/>
            <a:ext cx="76200" cy="1485900"/>
          </a:xfrm>
          <a:prstGeom prst="rect">
            <a:avLst/>
          </a:prstGeom>
          <a:solidFill>
            <a:srgbClr val="2E7D32"/>
          </a:solidFill>
          <a:ln w="0">
            <a:solidFill>
              <a:srgbClr val="2E7D32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838200" y="3163570"/>
            <a:ext cx="266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1">
                <a:solidFill>
                  <a:srgbClr val="173124"/>
                </a:solidFill>
              </a:defRPr>
            </a:pPr>
            <a:r>
              <a:rPr sz="1800" b="1">
                <a:solidFill>
                  <a:srgbClr val="173124"/>
                </a:solidFill>
                <a:uFillTx/>
              </a:rPr>
              <a:t>首页总览</a:t>
            </a:r>
            <a:endParaRPr sz="1800" b="1">
              <a:solidFill>
                <a:srgbClr val="173124"/>
              </a:solidFill>
              <a:uFillTx/>
            </a:endParaRPr>
          </a:p>
        </p:txBody>
      </p:sp>
      <p:sp>
        <p:nvSpPr>
          <p:cNvPr id="17" name="矩形 16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838200" y="3528060"/>
            <a:ext cx="206248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244233"/>
                </a:solidFill>
              </a:defRPr>
            </a:pPr>
            <a:r>
              <a:rPr sz="1600" b="0">
                <a:solidFill>
                  <a:srgbClr val="244233"/>
                </a:solidFill>
                <a:uFillTx/>
              </a:rPr>
              <a:t>汇总识别数据、病害趋势和处置建议，让管理者快速把握全局</a:t>
            </a:r>
            <a:endParaRPr sz="1600" b="0">
              <a:solidFill>
                <a:srgbClr val="244233"/>
              </a:solidFill>
              <a:uFillTx/>
            </a:endParaRPr>
          </a:p>
        </p:txBody>
      </p:sp>
      <p:sp>
        <p:nvSpPr>
          <p:cNvPr id="18" name="圆角矩形 17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4068445" y="3038475"/>
            <a:ext cx="3048000" cy="148590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C9DDCB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3982085" y="2972435"/>
            <a:ext cx="76200" cy="1485900"/>
          </a:xfrm>
          <a:prstGeom prst="rect">
            <a:avLst/>
          </a:prstGeom>
          <a:solidFill>
            <a:srgbClr val="E7B84B"/>
          </a:solidFill>
          <a:ln w="0">
            <a:solidFill>
              <a:srgbClr val="E7B84B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4343400" y="3173095"/>
            <a:ext cx="266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1">
                <a:solidFill>
                  <a:srgbClr val="173124"/>
                </a:solidFill>
              </a:defRPr>
            </a:pPr>
            <a:r>
              <a:rPr sz="1800" b="1">
                <a:solidFill>
                  <a:srgbClr val="173124"/>
                </a:solidFill>
              </a:rPr>
              <a:t>图片识别</a:t>
            </a:r>
            <a:endParaRPr sz="1800" b="1">
              <a:solidFill>
                <a:srgbClr val="173124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4343400" y="3648075"/>
            <a:ext cx="262890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244233"/>
                </a:solidFill>
              </a:defRPr>
            </a:pPr>
            <a:r>
              <a:rPr sz="1600" b="0">
                <a:solidFill>
                  <a:srgbClr val="244233"/>
                </a:solidFill>
              </a:rPr>
              <a:t>上传作物图片后自动输出病害名称、置信度和严重程度</a:t>
            </a:r>
            <a:endParaRPr sz="1600" b="0">
              <a:solidFill>
                <a:srgbClr val="244233"/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7635240" y="2972435"/>
            <a:ext cx="3048000" cy="148590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C9DDCB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7543800" y="2967990"/>
            <a:ext cx="76200" cy="1485900"/>
          </a:xfrm>
          <a:prstGeom prst="rect">
            <a:avLst/>
          </a:prstGeom>
          <a:solidFill>
            <a:srgbClr val="F47C65"/>
          </a:solidFill>
          <a:ln w="0">
            <a:solidFill>
              <a:srgbClr val="F47C65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7892415" y="3173095"/>
            <a:ext cx="266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1">
                <a:solidFill>
                  <a:srgbClr val="173124"/>
                </a:solidFill>
              </a:defRPr>
            </a:pPr>
            <a:r>
              <a:rPr sz="1800" b="1">
                <a:solidFill>
                  <a:srgbClr val="173124"/>
                </a:solidFill>
              </a:rPr>
              <a:t>AI 对话诊断</a:t>
            </a:r>
            <a:endParaRPr sz="1800" b="1">
              <a:solidFill>
                <a:srgbClr val="173124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7864475" y="3648075"/>
            <a:ext cx="262890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244233"/>
                </a:solidFill>
              </a:defRPr>
            </a:pPr>
            <a:r>
              <a:rPr sz="1600" b="0">
                <a:solidFill>
                  <a:srgbClr val="244233"/>
                </a:solidFill>
              </a:rPr>
              <a:t>支持用户直接提问，系统生成症状分析与防治方案</a:t>
            </a:r>
            <a:endParaRPr sz="1600" b="0">
              <a:solidFill>
                <a:srgbClr val="244233"/>
              </a:solidFill>
            </a:endParaRPr>
          </a:p>
        </p:txBody>
      </p:sp>
      <p:sp>
        <p:nvSpPr>
          <p:cNvPr id="26" name="圆角矩形 25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243840" y="4747895"/>
            <a:ext cx="3048000" cy="148590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C9DDCB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609600" y="4747895"/>
            <a:ext cx="76200" cy="1485900"/>
          </a:xfrm>
          <a:prstGeom prst="rect">
            <a:avLst/>
          </a:prstGeom>
          <a:solidFill>
            <a:srgbClr val="0F8C84"/>
          </a:solidFill>
          <a:ln w="0">
            <a:solidFill>
              <a:srgbClr val="0F8C84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838200" y="4875530"/>
            <a:ext cx="2667000" cy="31178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173124"/>
                </a:solidFill>
              </a:defRPr>
            </a:pPr>
            <a:r>
              <a:rPr sz="1800" b="1">
                <a:solidFill>
                  <a:srgbClr val="173124"/>
                </a:solidFill>
              </a:rPr>
              <a:t>风险预测</a:t>
            </a:r>
            <a:endParaRPr sz="1800" b="1">
              <a:solidFill>
                <a:srgbClr val="173124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838200" y="5251450"/>
            <a:ext cx="262890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244233"/>
                </a:solidFill>
              </a:defRPr>
            </a:pPr>
            <a:r>
              <a:rPr sz="1600" b="0">
                <a:solidFill>
                  <a:srgbClr val="244233"/>
                </a:solidFill>
              </a:rPr>
              <a:t>结合温度、湿度、降雨量给出 7 天风险趋势和每日建议</a:t>
            </a:r>
            <a:endParaRPr sz="1600" b="0">
              <a:solidFill>
                <a:srgbClr val="244233"/>
              </a:solidFill>
            </a:endParaRPr>
          </a:p>
        </p:txBody>
      </p:sp>
      <p:sp>
        <p:nvSpPr>
          <p:cNvPr id="30" name="圆角矩形 29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4046220" y="4748530"/>
            <a:ext cx="3048000" cy="148590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C9DDCB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3984625" y="4747895"/>
            <a:ext cx="76200" cy="1485900"/>
          </a:xfrm>
          <a:prstGeom prst="rect">
            <a:avLst/>
          </a:prstGeom>
          <a:solidFill>
            <a:srgbClr val="4A90E2"/>
          </a:solidFill>
          <a:ln w="0">
            <a:solidFill>
              <a:srgbClr val="4A90E2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32" name="矩形 31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4343400" y="4875530"/>
            <a:ext cx="266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1">
                <a:solidFill>
                  <a:srgbClr val="173124"/>
                </a:solidFill>
              </a:defRPr>
            </a:pPr>
            <a:r>
              <a:rPr sz="1800" b="1">
                <a:solidFill>
                  <a:srgbClr val="173124"/>
                </a:solidFill>
              </a:rPr>
              <a:t>病害地图</a:t>
            </a:r>
            <a:endParaRPr sz="1800" b="1">
              <a:solidFill>
                <a:srgbClr val="173124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>
            <p:custDataLst>
              <p:tags r:id="rId20"/>
            </p:custDataLst>
          </p:nvPr>
        </p:nvSpPr>
        <p:spPr>
          <a:xfrm>
            <a:off x="4381500" y="5251450"/>
            <a:ext cx="262890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244233"/>
                </a:solidFill>
              </a:defRPr>
            </a:pPr>
            <a:r>
              <a:rPr sz="1600" b="0">
                <a:solidFill>
                  <a:srgbClr val="244233"/>
                </a:solidFill>
                <a:uFillTx/>
              </a:rPr>
              <a:t>通过区域热力图定位高发地区，支持农业治理与巡查</a:t>
            </a:r>
            <a:endParaRPr sz="1600" b="0">
              <a:solidFill>
                <a:srgbClr val="244233"/>
              </a:solidFill>
              <a:uFillTx/>
            </a:endParaRPr>
          </a:p>
        </p:txBody>
      </p:sp>
      <p:sp>
        <p:nvSpPr>
          <p:cNvPr id="34" name="圆角矩形 33"/>
          <p:cNvSpPr>
            <a:spLocks noGrp="1"/>
          </p:cNvSpPr>
          <p:nvPr>
            <p:custDataLst>
              <p:tags r:id="rId21"/>
            </p:custDataLst>
          </p:nvPr>
        </p:nvSpPr>
        <p:spPr>
          <a:xfrm>
            <a:off x="7635240" y="4747895"/>
            <a:ext cx="3048000" cy="148590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C9DDCB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>
            <p:custDataLst>
              <p:tags r:id="rId22"/>
            </p:custDataLst>
          </p:nvPr>
        </p:nvSpPr>
        <p:spPr>
          <a:xfrm>
            <a:off x="7543800" y="4747895"/>
            <a:ext cx="76200" cy="1485900"/>
          </a:xfrm>
          <a:prstGeom prst="rect">
            <a:avLst/>
          </a:prstGeom>
          <a:solidFill>
            <a:srgbClr val="74C365"/>
          </a:solidFill>
          <a:ln w="0">
            <a:solidFill>
              <a:srgbClr val="74C365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>
            <p:custDataLst>
              <p:tags r:id="rId23"/>
            </p:custDataLst>
          </p:nvPr>
        </p:nvSpPr>
        <p:spPr>
          <a:xfrm>
            <a:off x="7848600" y="4875530"/>
            <a:ext cx="266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1">
                <a:solidFill>
                  <a:srgbClr val="173124"/>
                </a:solidFill>
              </a:defRPr>
            </a:pPr>
            <a:r>
              <a:rPr sz="1800" b="1">
                <a:solidFill>
                  <a:srgbClr val="173124"/>
                </a:solidFill>
              </a:rPr>
              <a:t>知识图谱</a:t>
            </a:r>
            <a:endParaRPr sz="1800" b="1">
              <a:solidFill>
                <a:srgbClr val="173124"/>
              </a:solidFill>
            </a:endParaRPr>
          </a:p>
        </p:txBody>
      </p:sp>
      <p:sp>
        <p:nvSpPr>
          <p:cNvPr id="37" name="矩形 36"/>
          <p:cNvSpPr>
            <a:spLocks noGrp="1"/>
          </p:cNvSpPr>
          <p:nvPr>
            <p:custDataLst>
              <p:tags r:id="rId24"/>
            </p:custDataLst>
          </p:nvPr>
        </p:nvSpPr>
        <p:spPr>
          <a:xfrm>
            <a:off x="7770495" y="5251450"/>
            <a:ext cx="262890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244233"/>
                </a:solidFill>
              </a:defRPr>
            </a:pPr>
            <a:r>
              <a:rPr sz="1600" b="0">
                <a:solidFill>
                  <a:srgbClr val="244233"/>
                </a:solidFill>
              </a:rPr>
              <a:t>沉淀病害、虫害、作物和方案之间的专业知识网络</a:t>
            </a:r>
            <a:endParaRPr sz="1600" b="0">
              <a:solidFill>
                <a:srgbClr val="244233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5"/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2230" y="0"/>
            <a:ext cx="12192000" cy="1047750"/>
          </a:xfrm>
          <a:prstGeom prst="rect">
            <a:avLst/>
          </a:prstGeom>
          <a:solidFill>
            <a:srgbClr val="0F4A2F"/>
          </a:solidFill>
          <a:ln w="0">
            <a:solidFill>
              <a:srgbClr val="0F4A2F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1047750"/>
            <a:ext cx="12192000" cy="5810250"/>
          </a:xfrm>
          <a:prstGeom prst="rect">
            <a:avLst/>
          </a:prstGeom>
          <a:solidFill>
            <a:srgbClr val="F7FBF6"/>
          </a:solidFill>
          <a:ln w="0">
            <a:solidFill>
              <a:srgbClr val="F7FBF6"/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9334500" y="-857250"/>
            <a:ext cx="3048000" cy="2476500"/>
          </a:xfrm>
          <a:prstGeom prst="ellipse">
            <a:avLst/>
          </a:prstGeom>
          <a:solidFill>
            <a:srgbClr val="2E7D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椭圆 5"/>
          <p:cNvSpPr>
            <a:spLocks noGrp="1"/>
          </p:cNvSpPr>
          <p:nvPr/>
        </p:nvSpPr>
        <p:spPr>
          <a:xfrm>
            <a:off x="9906000" y="190500"/>
            <a:ext cx="1905000" cy="1333500"/>
          </a:xfrm>
          <a:prstGeom prst="ellipse">
            <a:avLst/>
          </a:prstGeom>
          <a:solidFill>
            <a:srgbClr val="74C36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椭圆 6"/>
          <p:cNvSpPr>
            <a:spLocks noGrp="1"/>
          </p:cNvSpPr>
          <p:nvPr/>
        </p:nvSpPr>
        <p:spPr>
          <a:xfrm>
            <a:off x="-857250" y="5143500"/>
            <a:ext cx="2095500" cy="1524000"/>
          </a:xfrm>
          <a:prstGeom prst="ellipse">
            <a:avLst/>
          </a:prstGeom>
          <a:solidFill>
            <a:srgbClr val="D8EBD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372110" y="190500"/>
            <a:ext cx="7048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应用价值与未来展望</a:t>
            </a:r>
            <a:endParaRPr sz="3600" b="1">
              <a:solidFill>
                <a:srgbClr val="FFFFFF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55270" y="1870075"/>
            <a:ext cx="11191875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400" b="1">
                <a:solidFill>
                  <a:srgbClr val="0F4A2F"/>
                </a:solidFill>
              </a:defRPr>
            </a:pPr>
            <a:r>
              <a:rPr sz="4800" b="1">
                <a:solidFill>
                  <a:srgbClr val="0F4A2F"/>
                </a:solidFill>
                <a:uFillTx/>
              </a:rPr>
              <a:t>服务农户、服务基层、服务区域农业治理</a:t>
            </a:r>
            <a:endParaRPr sz="4800" b="1">
              <a:solidFill>
                <a:srgbClr val="0F4A2F"/>
              </a:solidFill>
              <a:uFillTx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609600" y="3352800"/>
            <a:ext cx="238125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9DDCB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09600" y="3352800"/>
            <a:ext cx="2381250" cy="66675"/>
          </a:xfrm>
          <a:prstGeom prst="rect">
            <a:avLst/>
          </a:prstGeom>
          <a:solidFill>
            <a:srgbClr val="2E7D32"/>
          </a:solidFill>
          <a:ln w="0">
            <a:solidFill>
              <a:srgbClr val="2E7D32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81050" y="3562350"/>
            <a:ext cx="20383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F4A2F"/>
                </a:solidFill>
              </a:defRPr>
            </a:pPr>
            <a:r>
              <a:rPr b="1">
                <a:solidFill>
                  <a:srgbClr val="0F4A2F"/>
                </a:solidFill>
              </a:rPr>
              <a:t>更快</a:t>
            </a:r>
            <a:endParaRPr b="1">
              <a:solidFill>
                <a:srgbClr val="0F4A2F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00100" y="400050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1">
                <a:solidFill>
                  <a:srgbClr val="244233"/>
                </a:solidFill>
              </a:defRPr>
            </a:pPr>
            <a:r>
              <a:rPr sz="1600" b="1">
                <a:solidFill>
                  <a:srgbClr val="244233"/>
                </a:solidFill>
              </a:rPr>
              <a:t>提升识别与响应效率</a:t>
            </a:r>
            <a:endParaRPr sz="1600" b="1">
              <a:solidFill>
                <a:srgbClr val="244233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3162300" y="3352800"/>
            <a:ext cx="238125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9DDCB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3162300" y="3352800"/>
            <a:ext cx="2381250" cy="66675"/>
          </a:xfrm>
          <a:prstGeom prst="rect">
            <a:avLst/>
          </a:prstGeom>
          <a:solidFill>
            <a:srgbClr val="E7B84B"/>
          </a:solidFill>
          <a:ln w="0">
            <a:solidFill>
              <a:srgbClr val="E7B84B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3333750" y="3562350"/>
            <a:ext cx="20383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F4A2F"/>
                </a:solidFill>
              </a:defRPr>
            </a:pPr>
            <a:r>
              <a:rPr b="1">
                <a:solidFill>
                  <a:srgbClr val="0F4A2F"/>
                </a:solidFill>
              </a:rPr>
              <a:t>更准</a:t>
            </a:r>
            <a:endParaRPr b="1">
              <a:solidFill>
                <a:srgbClr val="0F4A2F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3352800" y="3930650"/>
            <a:ext cx="197739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1">
                <a:solidFill>
                  <a:srgbClr val="244233"/>
                </a:solidFill>
              </a:defRPr>
            </a:pPr>
            <a:r>
              <a:rPr sz="1800" b="1">
                <a:solidFill>
                  <a:srgbClr val="244233"/>
                </a:solidFill>
              </a:rPr>
              <a:t>输出名称、置信度、严重程度</a:t>
            </a:r>
            <a:endParaRPr sz="1800" b="1">
              <a:solidFill>
                <a:srgbClr val="244233"/>
              </a:solidFill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5715000" y="3352800"/>
            <a:ext cx="238125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9DDCB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5715000" y="3352800"/>
            <a:ext cx="2381250" cy="66675"/>
          </a:xfrm>
          <a:prstGeom prst="rect">
            <a:avLst/>
          </a:prstGeom>
          <a:solidFill>
            <a:srgbClr val="F47C65"/>
          </a:solidFill>
          <a:ln w="0">
            <a:solidFill>
              <a:srgbClr val="F47C65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5886450" y="3562350"/>
            <a:ext cx="20383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F4A2F"/>
                </a:solidFill>
              </a:defRPr>
            </a:pPr>
            <a:r>
              <a:rPr b="1">
                <a:solidFill>
                  <a:srgbClr val="0F4A2F"/>
                </a:solidFill>
              </a:rPr>
              <a:t>更早</a:t>
            </a:r>
            <a:endParaRPr b="1">
              <a:solidFill>
                <a:srgbClr val="0F4A2F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5944235" y="393065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1">
                <a:solidFill>
                  <a:srgbClr val="244233"/>
                </a:solidFill>
              </a:defRPr>
            </a:pPr>
            <a:r>
              <a:rPr sz="1800" b="1">
                <a:solidFill>
                  <a:srgbClr val="244233"/>
                </a:solidFill>
              </a:rPr>
              <a:t>结合趋势分析与区域地图</a:t>
            </a:r>
            <a:endParaRPr sz="1800" b="1">
              <a:solidFill>
                <a:srgbClr val="244233"/>
              </a:solidFill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8267700" y="3352800"/>
            <a:ext cx="238125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9DDCB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8267700" y="3352800"/>
            <a:ext cx="2381250" cy="66675"/>
          </a:xfrm>
          <a:prstGeom prst="rect">
            <a:avLst/>
          </a:prstGeom>
          <a:solidFill>
            <a:srgbClr val="0F8C84"/>
          </a:solidFill>
          <a:ln w="0">
            <a:solidFill>
              <a:srgbClr val="0F8C84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8439150" y="3562350"/>
            <a:ext cx="20383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F4A2F"/>
                </a:solidFill>
              </a:defRPr>
            </a:pPr>
            <a:r>
              <a:rPr b="1">
                <a:solidFill>
                  <a:srgbClr val="0F4A2F"/>
                </a:solidFill>
              </a:rPr>
              <a:t>更广</a:t>
            </a:r>
            <a:endParaRPr b="1">
              <a:solidFill>
                <a:srgbClr val="0F4A2F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8481060" y="392430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1">
                <a:solidFill>
                  <a:srgbClr val="244233"/>
                </a:solidFill>
              </a:defRPr>
            </a:pPr>
            <a:r>
              <a:rPr sz="1800" b="1">
                <a:solidFill>
                  <a:srgbClr val="244233"/>
                </a:solidFill>
              </a:rPr>
              <a:t>支持跨作物、</a:t>
            </a:r>
            <a:endParaRPr sz="1800" b="1">
              <a:solidFill>
                <a:srgbClr val="244233"/>
              </a:solidFill>
            </a:endParaRPr>
          </a:p>
          <a:p>
            <a:pPr algn="l">
              <a:defRPr sz="1125" b="1">
                <a:solidFill>
                  <a:srgbClr val="244233"/>
                </a:solidFill>
              </a:defRPr>
            </a:pPr>
            <a:r>
              <a:rPr sz="1800" b="1">
                <a:solidFill>
                  <a:srgbClr val="244233"/>
                </a:solidFill>
              </a:rPr>
              <a:t>跨区域扩展</a:t>
            </a:r>
            <a:endParaRPr sz="1800" b="1">
              <a:solidFill>
                <a:srgbClr val="244233"/>
              </a:solidFill>
            </a:endParaRP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609600" y="4857750"/>
            <a:ext cx="68580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C9DDCB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838200" y="502031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1">
                <a:solidFill>
                  <a:srgbClr val="0F4A2F"/>
                </a:solidFill>
              </a:defRPr>
            </a:pPr>
            <a:r>
              <a:rPr sz="2000" b="1">
                <a:solidFill>
                  <a:srgbClr val="0F4A2F"/>
                </a:solidFill>
              </a:rPr>
              <a:t>后续展望</a:t>
            </a:r>
            <a:endParaRPr sz="2000" b="1">
              <a:solidFill>
                <a:srgbClr val="0F4A2F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1028700" y="5448300"/>
            <a:ext cx="1714500" cy="514350"/>
          </a:xfrm>
          <a:prstGeom prst="rect">
            <a:avLst/>
          </a:prstGeom>
          <a:solidFill>
            <a:srgbClr val="0F4A2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扩充作物与病害类型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2743200" y="5724525"/>
            <a:ext cx="361950" cy="38100"/>
          </a:xfrm>
          <a:prstGeom prst="rect">
            <a:avLst/>
          </a:prstGeom>
          <a:solidFill>
            <a:srgbClr val="74C365"/>
          </a:solidFill>
          <a:ln w="0">
            <a:solidFill>
              <a:srgbClr val="74C365"/>
            </a:solidFill>
            <a:prstDash val="solid"/>
          </a:ln>
        </p:spPr>
      </p:sp>
      <p:sp>
        <p:nvSpPr>
          <p:cNvPr id="38" name="右箭头 37"/>
          <p:cNvSpPr>
            <a:spLocks noGrp="1"/>
          </p:cNvSpPr>
          <p:nvPr/>
        </p:nvSpPr>
        <p:spPr>
          <a:xfrm>
            <a:off x="3009900" y="5648325"/>
            <a:ext cx="209550" cy="190500"/>
          </a:xfrm>
          <a:prstGeom prst="rightArrow">
            <a:avLst/>
          </a:prstGeom>
          <a:solidFill>
            <a:srgbClr val="74C365"/>
          </a:solidFill>
          <a:ln w="0">
            <a:solidFill>
              <a:srgbClr val="74C365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3105150" y="5448300"/>
            <a:ext cx="1905000" cy="514350"/>
          </a:xfrm>
          <a:prstGeom prst="rect">
            <a:avLst/>
          </a:prstGeom>
          <a:solidFill>
            <a:srgbClr val="2E7D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接入更多环境与区域数据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5010150" y="5724525"/>
            <a:ext cx="361950" cy="38100"/>
          </a:xfrm>
          <a:prstGeom prst="rect">
            <a:avLst/>
          </a:prstGeom>
          <a:solidFill>
            <a:srgbClr val="74C365"/>
          </a:solidFill>
          <a:ln w="0">
            <a:solidFill>
              <a:srgbClr val="74C365"/>
            </a:solidFill>
            <a:prstDash val="solid"/>
          </a:ln>
        </p:spPr>
      </p:sp>
      <p:sp>
        <p:nvSpPr>
          <p:cNvPr id="41" name="右箭头 40"/>
          <p:cNvSpPr>
            <a:spLocks noGrp="1"/>
          </p:cNvSpPr>
          <p:nvPr/>
        </p:nvSpPr>
        <p:spPr>
          <a:xfrm>
            <a:off x="5276850" y="5648325"/>
            <a:ext cx="209550" cy="190500"/>
          </a:xfrm>
          <a:prstGeom prst="rightArrow">
            <a:avLst/>
          </a:prstGeom>
          <a:solidFill>
            <a:srgbClr val="74C365"/>
          </a:solidFill>
          <a:ln w="0">
            <a:solidFill>
              <a:srgbClr val="74C365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5372100" y="5448300"/>
            <a:ext cx="2000250" cy="514350"/>
          </a:xfrm>
          <a:prstGeom prst="rect">
            <a:avLst/>
          </a:prstGeom>
          <a:solidFill>
            <a:srgbClr val="74C36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defRPr sz="1200" b="1">
                <a:solidFill>
                  <a:srgbClr val="0F4A2F"/>
                </a:solidFill>
              </a:defRPr>
            </a:pPr>
            <a:r>
              <a:rPr sz="1800" b="1">
                <a:solidFill>
                  <a:srgbClr val="0F4A2F"/>
                </a:solidFill>
              </a:rPr>
              <a:t>优化预警策略与智能问答</a:t>
            </a:r>
            <a:endParaRPr sz="1800" b="1">
              <a:solidFill>
                <a:srgbClr val="0F4A2F"/>
              </a:solidFill>
            </a:endParaRPr>
          </a:p>
        </p:txBody>
      </p:sp>
      <p:sp>
        <p:nvSpPr>
          <p:cNvPr id="43" name="圆角矩形 42"/>
          <p:cNvSpPr>
            <a:spLocks noGrp="1"/>
          </p:cNvSpPr>
          <p:nvPr/>
        </p:nvSpPr>
        <p:spPr>
          <a:xfrm>
            <a:off x="7810500" y="4857750"/>
            <a:ext cx="3752850" cy="1428750"/>
          </a:xfrm>
          <a:prstGeom prst="roundRect">
            <a:avLst>
              <a:gd name="adj" fmla="val 5333"/>
            </a:avLst>
          </a:prstGeom>
          <a:solidFill>
            <a:srgbClr val="0F4A2F"/>
          </a:solidFill>
          <a:ln w="0">
            <a:solidFill>
              <a:srgbClr val="0F4A2F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8058150" y="5086350"/>
            <a:ext cx="160909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200" b="1">
                <a:solidFill>
                  <a:srgbClr val="B9F1BA"/>
                </a:solidFill>
              </a:defRPr>
            </a:pPr>
            <a:r>
              <a:rPr lang="zh-CN" sz="2000" b="1">
                <a:solidFill>
                  <a:srgbClr val="B9F1BA"/>
                </a:solidFill>
              </a:rPr>
              <a:t>结语</a:t>
            </a:r>
            <a:endParaRPr lang="zh-CN" sz="2000" b="1">
              <a:solidFill>
                <a:srgbClr val="B9F1BA"/>
              </a:solidFill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8058150" y="5448300"/>
            <a:ext cx="3255010" cy="51498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rPr b="1">
                <a:solidFill>
                  <a:srgbClr val="FFFFFF"/>
                </a:solidFill>
              </a:rPr>
              <a:t>我们希望用 AI 让农业病虫害治理从“经验判断”走向“智能决策”</a:t>
            </a:r>
            <a:endParaRPr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/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/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350" y="-51435"/>
            <a:ext cx="12192635" cy="6857365"/>
          </a:xfrm>
          <a:prstGeom prst="rect">
            <a:avLst/>
          </a:prstGeom>
          <a:solidFill>
            <a:srgbClr val="F7FBF6"/>
          </a:solidFill>
          <a:ln w="0">
            <a:solidFill>
              <a:srgbClr val="F7FBF6"/>
            </a:solidFill>
            <a:prstDash val="solid"/>
          </a:ln>
        </p:spPr>
      </p:sp>
      <p:sp>
        <p:nvSpPr>
          <p:cNvPr id="6" name="文本框 5"/>
          <p:cNvSpPr txBox="1"/>
          <p:nvPr/>
        </p:nvSpPr>
        <p:spPr>
          <a:xfrm>
            <a:off x="975995" y="1160780"/>
            <a:ext cx="598805" cy="32804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6600"/>
              <a:t>系统展示</a:t>
            </a:r>
            <a:endParaRPr lang="zh-CN" altLang="en-US" sz="6600"/>
          </a:p>
        </p:txBody>
      </p:sp>
      <p:sp>
        <p:nvSpPr>
          <p:cNvPr id="8" name="矩形 7"/>
          <p:cNvSpPr/>
          <p:nvPr/>
        </p:nvSpPr>
        <p:spPr>
          <a:xfrm>
            <a:off x="6350" y="0"/>
            <a:ext cx="12199620" cy="99187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984115" y="184785"/>
            <a:ext cx="20808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zh-CN" altLang="en-US" sz="3600">
                <a:sym typeface="+mn-ea"/>
              </a:rPr>
              <a:t>系统展示</a:t>
            </a:r>
            <a:endParaRPr lang="zh-CN" altLang="en-US" sz="3600">
              <a:sym typeface="+mn-ea"/>
            </a:endParaRPr>
          </a:p>
        </p:txBody>
      </p:sp>
      <p:pic>
        <p:nvPicPr>
          <p:cNvPr id="4" name="735ad3c12fc13b30b89d224c30903366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6350" y="991870"/>
            <a:ext cx="12185650" cy="58661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5"/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6"/>
          </a:solidFill>
          <a:ln w="0">
            <a:solidFill>
              <a:srgbClr val="F7FBF6"/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6667500" y="381000"/>
            <a:ext cx="4476750" cy="4476750"/>
          </a:xfrm>
          <a:prstGeom prst="ellipse">
            <a:avLst/>
          </a:prstGeom>
          <a:solidFill>
            <a:srgbClr val="EAF6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椭圆 5"/>
          <p:cNvSpPr>
            <a:spLocks noGrp="1"/>
          </p:cNvSpPr>
          <p:nvPr/>
        </p:nvSpPr>
        <p:spPr>
          <a:xfrm>
            <a:off x="8048625" y="1381125"/>
            <a:ext cx="2857500" cy="2857500"/>
          </a:xfrm>
          <a:prstGeom prst="ellipse">
            <a:avLst/>
          </a:prstGeom>
          <a:solidFill>
            <a:srgbClr val="D8EBD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圆角矩形 6"/>
          <p:cNvSpPr>
            <a:spLocks noGrp="1"/>
          </p:cNvSpPr>
          <p:nvPr/>
        </p:nvSpPr>
        <p:spPr>
          <a:xfrm>
            <a:off x="7239000" y="1428750"/>
            <a:ext cx="3619500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C9DDCB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524750" y="1809750"/>
            <a:ext cx="3048000" cy="247650"/>
          </a:xfrm>
          <a:prstGeom prst="rect">
            <a:avLst/>
          </a:prstGeom>
          <a:solidFill>
            <a:srgbClr val="0F4A2F"/>
          </a:solidFill>
          <a:ln w="0">
            <a:solidFill>
              <a:srgbClr val="0F4A2F"/>
            </a:solidFill>
            <a:prstDash val="solid"/>
          </a:ln>
        </p:spPr>
      </p:sp>
      <p:sp>
        <p:nvSpPr>
          <p:cNvPr id="9" name="圆角矩形 8"/>
          <p:cNvSpPr>
            <a:spLocks noGrp="1"/>
          </p:cNvSpPr>
          <p:nvPr/>
        </p:nvSpPr>
        <p:spPr>
          <a:xfrm>
            <a:off x="7524750" y="2247900"/>
            <a:ext cx="1428750" cy="1123950"/>
          </a:xfrm>
          <a:prstGeom prst="roundRect">
            <a:avLst>
              <a:gd name="adj" fmla="val 6780"/>
            </a:avLst>
          </a:prstGeom>
          <a:solidFill>
            <a:srgbClr val="EAF6E8"/>
          </a:solidFill>
          <a:ln w="0">
            <a:solidFill>
              <a:srgbClr val="EAF6E8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9144000" y="2247900"/>
            <a:ext cx="142875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C9DDCB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7524750" y="3524250"/>
            <a:ext cx="3048000" cy="209550"/>
          </a:xfrm>
          <a:prstGeom prst="roundRect">
            <a:avLst>
              <a:gd name="adj" fmla="val 36364"/>
            </a:avLst>
          </a:prstGeom>
          <a:solidFill>
            <a:srgbClr val="D8EBD7"/>
          </a:solidFill>
          <a:ln w="0">
            <a:solidFill>
              <a:srgbClr val="D8EBD7"/>
            </a:solidFill>
            <a:prstDash val="solid"/>
          </a:ln>
        </p:spPr>
      </p:sp>
      <p:sp>
        <p:nvSpPr>
          <p:cNvPr id="12" name="圆角矩形 11"/>
          <p:cNvSpPr>
            <a:spLocks noGrp="1"/>
          </p:cNvSpPr>
          <p:nvPr/>
        </p:nvSpPr>
        <p:spPr>
          <a:xfrm>
            <a:off x="7524750" y="3848100"/>
            <a:ext cx="2381250" cy="209550"/>
          </a:xfrm>
          <a:prstGeom prst="roundRect">
            <a:avLst>
              <a:gd name="adj" fmla="val 36364"/>
            </a:avLst>
          </a:prstGeom>
          <a:solidFill>
            <a:srgbClr val="D8EBD7"/>
          </a:solidFill>
          <a:ln w="0">
            <a:solidFill>
              <a:srgbClr val="D8EBD7"/>
            </a:solidFill>
            <a:prstDash val="solid"/>
          </a:ln>
        </p:spPr>
      </p:sp>
      <p:sp>
        <p:nvSpPr>
          <p:cNvPr id="13" name="椭圆 12"/>
          <p:cNvSpPr>
            <a:spLocks noGrp="1"/>
          </p:cNvSpPr>
          <p:nvPr/>
        </p:nvSpPr>
        <p:spPr>
          <a:xfrm>
            <a:off x="7810500" y="2524125"/>
            <a:ext cx="152400" cy="152400"/>
          </a:xfrm>
          <a:prstGeom prst="ellipse">
            <a:avLst/>
          </a:prstGeom>
          <a:solidFill>
            <a:srgbClr val="2E7D32"/>
          </a:solidFill>
          <a:ln w="0">
            <a:solidFill>
              <a:srgbClr val="2E7D32"/>
            </a:solidFill>
            <a:prstDash val="solid"/>
          </a:ln>
        </p:spPr>
      </p:sp>
      <p:sp>
        <p:nvSpPr>
          <p:cNvPr id="14" name="椭圆 13"/>
          <p:cNvSpPr>
            <a:spLocks noGrp="1"/>
          </p:cNvSpPr>
          <p:nvPr/>
        </p:nvSpPr>
        <p:spPr>
          <a:xfrm>
            <a:off x="8001000" y="2571750"/>
            <a:ext cx="95250" cy="95250"/>
          </a:xfrm>
          <a:prstGeom prst="ellipse">
            <a:avLst/>
          </a:prstGeom>
          <a:solidFill>
            <a:srgbClr val="E7B84B"/>
          </a:solidFill>
          <a:ln w="0">
            <a:solidFill>
              <a:srgbClr val="E7B84B"/>
            </a:solidFill>
            <a:prstDash val="solid"/>
          </a:ln>
        </p:spPr>
      </p:sp>
      <p:sp>
        <p:nvSpPr>
          <p:cNvPr id="15" name="椭圆 14"/>
          <p:cNvSpPr>
            <a:spLocks noGrp="1"/>
          </p:cNvSpPr>
          <p:nvPr/>
        </p:nvSpPr>
        <p:spPr>
          <a:xfrm>
            <a:off x="9429750" y="2524125"/>
            <a:ext cx="152400" cy="152400"/>
          </a:xfrm>
          <a:prstGeom prst="ellipse">
            <a:avLst/>
          </a:prstGeom>
          <a:solidFill>
            <a:srgbClr val="F47C65"/>
          </a:solidFill>
          <a:ln w="0">
            <a:solidFill>
              <a:srgbClr val="F47C65"/>
            </a:solidFill>
            <a:prstDash val="solid"/>
          </a:ln>
        </p:spPr>
      </p:sp>
      <p:sp>
        <p:nvSpPr>
          <p:cNvPr id="16" name="椭圆 15"/>
          <p:cNvSpPr>
            <a:spLocks noGrp="1"/>
          </p:cNvSpPr>
          <p:nvPr/>
        </p:nvSpPr>
        <p:spPr>
          <a:xfrm>
            <a:off x="9620250" y="2571750"/>
            <a:ext cx="95250" cy="95250"/>
          </a:xfrm>
          <a:prstGeom prst="ellipse">
            <a:avLst/>
          </a:prstGeom>
          <a:solidFill>
            <a:srgbClr val="E7B84B"/>
          </a:solidFill>
          <a:ln w="0">
            <a:solidFill>
              <a:srgbClr val="E7B84B"/>
            </a:solidFill>
            <a:prstDash val="solid"/>
          </a:ln>
        </p:spPr>
      </p:sp>
      <p:pic>
        <p:nvPicPr>
          <p:cNvPr id="17" name="图片 16" descr="蓝天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" y="0"/>
            <a:ext cx="12192635" cy="6858000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1960880" y="2057400"/>
            <a:ext cx="8534400" cy="31534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9900">
                <a:solidFill>
                  <a:schemeClr val="accent1"/>
                </a:solidFill>
                <a:uFillTx/>
                <a:latin typeface="华文彩云" panose="02010800040101010101" charset="-122"/>
                <a:ea typeface="华文彩云" panose="02010800040101010101" charset="-122"/>
              </a:rPr>
              <a:t>THANK</a:t>
            </a:r>
            <a:endParaRPr lang="en-US" altLang="zh-CN" sz="19900">
              <a:solidFill>
                <a:schemeClr val="accent1"/>
              </a:solidFill>
              <a:uFillTx/>
              <a:latin typeface="华文彩云" panose="02010800040101010101" charset="-122"/>
              <a:ea typeface="华文彩云" panose="02010800040101010101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29.9,&quot;left&quot;:21,&quot;top&quot;:262.5,&quot;width&quot;:890.25}"/>
</p:tagLst>
</file>

<file path=ppt/tags/tag2.xml><?xml version="1.0" encoding="utf-8"?>
<p:tagLst xmlns:p="http://schemas.openxmlformats.org/presentationml/2006/main">
  <p:tag name="KSO_WM_DIAGRAM_VIRTUALLY_FRAME" val="{&quot;height&quot;:229.9,&quot;left&quot;:21,&quot;top&quot;:262.5,&quot;width&quot;:890.25}"/>
</p:tagLst>
</file>

<file path=ppt/tags/tag3.xml><?xml version="1.0" encoding="utf-8"?>
<p:tagLst xmlns:p="http://schemas.openxmlformats.org/presentationml/2006/main">
  <p:tag name="KSO_WM_DIAGRAM_VIRTUALLY_FRAME" val="{&quot;height&quot;:229.9,&quot;left&quot;:21,&quot;top&quot;:262.5,&quot;width&quot;:890.25}"/>
</p:tagLst>
</file>

<file path=ppt/tags/tag4.xml><?xml version="1.0" encoding="utf-8"?>
<p:tagLst xmlns:p="http://schemas.openxmlformats.org/presentationml/2006/main">
  <p:tag name="KSO_WM_DIAGRAM_VIRTUALLY_FRAME" val="{&quot;height&quot;:229.9,&quot;left&quot;:21,&quot;top&quot;:262.5,&quot;width&quot;:890.25}"/>
</p:tagLst>
</file>

<file path=ppt/tags/tag5.xml><?xml version="1.0" encoding="utf-8"?>
<p:tagLst xmlns:p="http://schemas.openxmlformats.org/presentationml/2006/main">
  <p:tag name="KSO_WM_DIAGRAM_VIRTUALLY_FRAME" val="{&quot;height&quot;:229.9,&quot;left&quot;:21,&quot;top&quot;:262.5,&quot;width&quot;:890.25}"/>
</p:tagLst>
</file>

<file path=ppt/tags/tag6.xml><?xml version="1.0" encoding="utf-8"?>
<p:tagLst xmlns:p="http://schemas.openxmlformats.org/presentationml/2006/main">
  <p:tag name="KSO_WM_DIAGRAM_VIRTUALLY_FRAME" val="{&quot;height&quot;:229.9,&quot;left&quot;:21,&quot;top&quot;:262.5,&quot;width&quot;:890.25}"/>
</p:tagLst>
</file>

<file path=ppt/tags/tag7.xml><?xml version="1.0" encoding="utf-8"?>
<p:tagLst xmlns:p="http://schemas.openxmlformats.org/presentationml/2006/main">
  <p:tag name="KSO_WM_DIAGRAM_VIRTUALLY_FRAME" val="{&quot;height&quot;:229.9,&quot;left&quot;:21,&quot;top&quot;:262.5,&quot;width&quot;:890.25}"/>
</p:tagLst>
</file>

<file path=ppt/tags/tag8.xml><?xml version="1.0" encoding="utf-8"?>
<p:tagLst xmlns:p="http://schemas.openxmlformats.org/presentationml/2006/main">
  <p:tag name="KSO_WM_DIAGRAM_VIRTUALLY_FRAME" val="{&quot;height&quot;:229.9,&quot;left&quot;:21,&quot;top&quot;:262.5,&quot;width&quot;:890.25}"/>
</p:tagLst>
</file>

<file path=ppt/tags/tag9.xml><?xml version="1.0" encoding="utf-8"?>
<p:tagLst xmlns:p="http://schemas.openxmlformats.org/presentationml/2006/main">
  <p:tag name="KSO_WM_DIAGRAM_VIRTUALLY_FRAME" val="{&quot;height&quot;:229.9,&quot;left&quot;:21,&quot;top&quot;:262.5,&quot;width&quot;:890.25}"/>
</p:tagLst>
</file>

<file path=ppt/tags/tag10.xml><?xml version="1.0" encoding="utf-8"?>
<p:tagLst xmlns:p="http://schemas.openxmlformats.org/presentationml/2006/main">
  <p:tag name="KSO_WM_DIAGRAM_VIRTUALLY_FRAME" val="{&quot;height&quot;:229.9,&quot;left&quot;:21,&quot;top&quot;:262.5,&quot;width&quot;:890.25}"/>
</p:tagLst>
</file>

<file path=ppt/tags/tag11.xml><?xml version="1.0" encoding="utf-8"?>
<p:tagLst xmlns:p="http://schemas.openxmlformats.org/presentationml/2006/main">
  <p:tag name="KSO_WM_DIAGRAM_VIRTUALLY_FRAME" val="{&quot;height&quot;:229.9,&quot;left&quot;:21,&quot;top&quot;:262.5,&quot;width&quot;:890.25}"/>
</p:tagLst>
</file>

<file path=ppt/tags/tag12.xml><?xml version="1.0" encoding="utf-8"?>
<p:tagLst xmlns:p="http://schemas.openxmlformats.org/presentationml/2006/main">
  <p:tag name="KSO_WM_DIAGRAM_VIRTUALLY_FRAME" val="{&quot;height&quot;:229.9,&quot;left&quot;:21,&quot;top&quot;:262.5,&quot;width&quot;:890.25}"/>
</p:tagLst>
</file>

<file path=ppt/tags/tag13.xml><?xml version="1.0" encoding="utf-8"?>
<p:tagLst xmlns:p="http://schemas.openxmlformats.org/presentationml/2006/main">
  <p:tag name="KSO_WM_DIAGRAM_VIRTUALLY_FRAME" val="{&quot;height&quot;:232.35,&quot;left&quot;:19.9,&quot;top&quot;:221.25,&quot;width&quot;:522.05}"/>
</p:tagLst>
</file>

<file path=ppt/tags/tag14.xml><?xml version="1.0" encoding="utf-8"?>
<p:tagLst xmlns:p="http://schemas.openxmlformats.org/presentationml/2006/main">
  <p:tag name="KSO_WM_DIAGRAM_VIRTUALLY_FRAME" val="{&quot;height&quot;:232.35,&quot;left&quot;:19.9,&quot;top&quot;:221.25,&quot;width&quot;:522.05}"/>
</p:tagLst>
</file>

<file path=ppt/tags/tag15.xml><?xml version="1.0" encoding="utf-8"?>
<p:tagLst xmlns:p="http://schemas.openxmlformats.org/presentationml/2006/main">
  <p:tag name="KSO_WM_DIAGRAM_VIRTUALLY_FRAME" val="{&quot;height&quot;:232.35,&quot;left&quot;:19.9,&quot;top&quot;:221.25,&quot;width&quot;:522.05}"/>
</p:tagLst>
</file>

<file path=ppt/tags/tag16.xml><?xml version="1.0" encoding="utf-8"?>
<p:tagLst xmlns:p="http://schemas.openxmlformats.org/presentationml/2006/main">
  <p:tag name="KSO_WM_DIAGRAM_VIRTUALLY_FRAME" val="{&quot;height&quot;:232.35,&quot;left&quot;:19.9,&quot;top&quot;:221.25,&quot;width&quot;:522.05}"/>
</p:tagLst>
</file>

<file path=ppt/tags/tag17.xml><?xml version="1.0" encoding="utf-8"?>
<p:tagLst xmlns:p="http://schemas.openxmlformats.org/presentationml/2006/main">
  <p:tag name="KSO_WM_DIAGRAM_VIRTUALLY_FRAME" val="{&quot;height&quot;:232.35,&quot;left&quot;:19.9,&quot;top&quot;:221.25,&quot;width&quot;:522.05}"/>
</p:tagLst>
</file>

<file path=ppt/tags/tag18.xml><?xml version="1.0" encoding="utf-8"?>
<p:tagLst xmlns:p="http://schemas.openxmlformats.org/presentationml/2006/main">
  <p:tag name="KSO_WM_DIAGRAM_VIRTUALLY_FRAME" val="{&quot;height&quot;:232.35,&quot;left&quot;:19.9,&quot;top&quot;:221.25,&quot;width&quot;:522.05}"/>
</p:tagLst>
</file>

<file path=ppt/tags/tag19.xml><?xml version="1.0" encoding="utf-8"?>
<p:tagLst xmlns:p="http://schemas.openxmlformats.org/presentationml/2006/main">
  <p:tag name="KSO_WM_DIAGRAM_VIRTUALLY_FRAME" val="{&quot;height&quot;:232.35,&quot;left&quot;:19.9,&quot;top&quot;:221.25,&quot;width&quot;:522.05}"/>
</p:tagLst>
</file>

<file path=ppt/tags/tag20.xml><?xml version="1.0" encoding="utf-8"?>
<p:tagLst xmlns:p="http://schemas.openxmlformats.org/presentationml/2006/main">
  <p:tag name="KSO_WM_DIAGRAM_VIRTUALLY_FRAME" val="{&quot;height&quot;:232.35,&quot;left&quot;:19.9,&quot;top&quot;:221.25,&quot;width&quot;:522.05}"/>
</p:tagLst>
</file>

<file path=ppt/tags/tag21.xml><?xml version="1.0" encoding="utf-8"?>
<p:tagLst xmlns:p="http://schemas.openxmlformats.org/presentationml/2006/main">
  <p:tag name="KSO_WM_DIAGRAM_VIRTUALLY_FRAME" val="{&quot;height&quot;:232.35,&quot;left&quot;:19.9,&quot;top&quot;:221.25,&quot;width&quot;:522.05}"/>
</p:tagLst>
</file>

<file path=ppt/tags/tag22.xml><?xml version="1.0" encoding="utf-8"?>
<p:tagLst xmlns:p="http://schemas.openxmlformats.org/presentationml/2006/main">
  <p:tag name="KSO_WM_DIAGRAM_VIRTUALLY_FRAME" val="{&quot;height&quot;:232.35,&quot;left&quot;:19.9,&quot;top&quot;:221.25,&quot;width&quot;:522.05}"/>
</p:tagLst>
</file>

<file path=ppt/tags/tag23.xml><?xml version="1.0" encoding="utf-8"?>
<p:tagLst xmlns:p="http://schemas.openxmlformats.org/presentationml/2006/main">
  <p:tag name="KSO_WM_DIAGRAM_VIRTUALLY_FRAME" val="{&quot;height&quot;:232.35,&quot;left&quot;:19.9,&quot;top&quot;:221.25,&quot;width&quot;:522.05}"/>
</p:tagLst>
</file>

<file path=ppt/tags/tag24.xml><?xml version="1.0" encoding="utf-8"?>
<p:tagLst xmlns:p="http://schemas.openxmlformats.org/presentationml/2006/main">
  <p:tag name="KSO_WM_DIAGRAM_VIRTUALLY_FRAME" val="{&quot;height&quot;:232.35,&quot;left&quot;:19.9,&quot;top&quot;:221.25,&quot;width&quot;:522.05}"/>
</p:tagLst>
</file>

<file path=ppt/tags/tag25.xml><?xml version="1.0" encoding="utf-8"?>
<p:tagLst xmlns:p="http://schemas.openxmlformats.org/presentationml/2006/main">
  <p:tag name="KSO_WM_DIAGRAM_VIRTUALLY_FRAME" val="{&quot;height&quot;:203.85,&quot;left&quot;:11,&quot;top&quot;:244.3,&quot;width&quot;:899.5}"/>
</p:tagLst>
</file>

<file path=ppt/tags/tag26.xml><?xml version="1.0" encoding="utf-8"?>
<p:tagLst xmlns:p="http://schemas.openxmlformats.org/presentationml/2006/main">
  <p:tag name="KSO_WM_DIAGRAM_VIRTUALLY_FRAME" val="{&quot;height&quot;:203.85,&quot;left&quot;:11,&quot;top&quot;:244.3,&quot;width&quot;:899.5}"/>
</p:tagLst>
</file>

<file path=ppt/tags/tag27.xml><?xml version="1.0" encoding="utf-8"?>
<p:tagLst xmlns:p="http://schemas.openxmlformats.org/presentationml/2006/main">
  <p:tag name="KSO_WM_DIAGRAM_VIRTUALLY_FRAME" val="{&quot;height&quot;:203.85,&quot;left&quot;:11,&quot;top&quot;:244.3,&quot;width&quot;:899.5}"/>
</p:tagLst>
</file>

<file path=ppt/tags/tag28.xml><?xml version="1.0" encoding="utf-8"?>
<p:tagLst xmlns:p="http://schemas.openxmlformats.org/presentationml/2006/main">
  <p:tag name="KSO_WM_DIAGRAM_VIRTUALLY_FRAME" val="{&quot;height&quot;:203.85,&quot;left&quot;:11,&quot;top&quot;:244.3,&quot;width&quot;:899.5}"/>
</p:tagLst>
</file>

<file path=ppt/tags/tag29.xml><?xml version="1.0" encoding="utf-8"?>
<p:tagLst xmlns:p="http://schemas.openxmlformats.org/presentationml/2006/main">
  <p:tag name="KSO_WM_DIAGRAM_VIRTUALLY_FRAME" val="{&quot;height&quot;:203.85,&quot;left&quot;:11,&quot;top&quot;:244.3,&quot;width&quot;:899.5}"/>
</p:tagLst>
</file>

<file path=ppt/tags/tag30.xml><?xml version="1.0" encoding="utf-8"?>
<p:tagLst xmlns:p="http://schemas.openxmlformats.org/presentationml/2006/main">
  <p:tag name="KSO_WM_DIAGRAM_VIRTUALLY_FRAME" val="{&quot;height&quot;:203.85,&quot;left&quot;:11,&quot;top&quot;:244.3,&quot;width&quot;:899.5}"/>
</p:tagLst>
</file>

<file path=ppt/tags/tag31.xml><?xml version="1.0" encoding="utf-8"?>
<p:tagLst xmlns:p="http://schemas.openxmlformats.org/presentationml/2006/main">
  <p:tag name="KSO_WM_DIAGRAM_VIRTUALLY_FRAME" val="{&quot;height&quot;:203.85,&quot;left&quot;:11,&quot;top&quot;:244.3,&quot;width&quot;:899.5}"/>
</p:tagLst>
</file>

<file path=ppt/tags/tag32.xml><?xml version="1.0" encoding="utf-8"?>
<p:tagLst xmlns:p="http://schemas.openxmlformats.org/presentationml/2006/main">
  <p:tag name="KSO_WM_DIAGRAM_VIRTUALLY_FRAME" val="{&quot;height&quot;:203.85,&quot;left&quot;:11,&quot;top&quot;:244.3,&quot;width&quot;:899.5}"/>
</p:tagLst>
</file>

<file path=ppt/tags/tag33.xml><?xml version="1.0" encoding="utf-8"?>
<p:tagLst xmlns:p="http://schemas.openxmlformats.org/presentationml/2006/main">
  <p:tag name="KSO_WM_DIAGRAM_VIRTUALLY_FRAME" val="{&quot;height&quot;:203.85,&quot;left&quot;:11,&quot;top&quot;:244.3,&quot;width&quot;:899.5}"/>
</p:tagLst>
</file>

<file path=ppt/tags/tag34.xml><?xml version="1.0" encoding="utf-8"?>
<p:tagLst xmlns:p="http://schemas.openxmlformats.org/presentationml/2006/main">
  <p:tag name="KSO_WM_DIAGRAM_VIRTUALLY_FRAME" val="{&quot;height&quot;:203.85,&quot;left&quot;:11,&quot;top&quot;:244.3,&quot;width&quot;:899.5}"/>
</p:tagLst>
</file>

<file path=ppt/tags/tag35.xml><?xml version="1.0" encoding="utf-8"?>
<p:tagLst xmlns:p="http://schemas.openxmlformats.org/presentationml/2006/main">
  <p:tag name="KSO_WM_DIAGRAM_VIRTUALLY_FRAME" val="{&quot;height&quot;:203.85,&quot;left&quot;:11,&quot;top&quot;:244.3,&quot;width&quot;:899.5}"/>
</p:tagLst>
</file>

<file path=ppt/tags/tag36.xml><?xml version="1.0" encoding="utf-8"?>
<p:tagLst xmlns:p="http://schemas.openxmlformats.org/presentationml/2006/main">
  <p:tag name="KSO_WM_DIAGRAM_VIRTUALLY_FRAME" val="{&quot;height&quot;:203.85,&quot;left&quot;:11,&quot;top&quot;:244.3,&quot;width&quot;:899.5}"/>
</p:tagLst>
</file>

<file path=ppt/tags/tag37.xml><?xml version="1.0" encoding="utf-8"?>
<p:tagLst xmlns:p="http://schemas.openxmlformats.org/presentationml/2006/main">
  <p:tag name="KSO_WM_DIAGRAM_VIRTUALLY_FRAME" val="{&quot;height&quot;:310.9,&quot;left&quot;:19.2,&quot;top&quot;:180,&quot;width&quot;:822}"/>
</p:tagLst>
</file>

<file path=ppt/tags/tag38.xml><?xml version="1.0" encoding="utf-8"?>
<p:tagLst xmlns:p="http://schemas.openxmlformats.org/presentationml/2006/main">
  <p:tag name="KSO_WM_DIAGRAM_VIRTUALLY_FRAME" val="{&quot;height&quot;:310.9,&quot;left&quot;:19.2,&quot;top&quot;:180,&quot;width&quot;:822}"/>
</p:tagLst>
</file>

<file path=ppt/tags/tag39.xml><?xml version="1.0" encoding="utf-8"?>
<p:tagLst xmlns:p="http://schemas.openxmlformats.org/presentationml/2006/main">
  <p:tag name="KSO_WM_DIAGRAM_VIRTUALLY_FRAME" val="{&quot;height&quot;:310.9,&quot;left&quot;:19.2,&quot;top&quot;:180,&quot;width&quot;:822}"/>
</p:tagLst>
</file>

<file path=ppt/tags/tag40.xml><?xml version="1.0" encoding="utf-8"?>
<p:tagLst xmlns:p="http://schemas.openxmlformats.org/presentationml/2006/main">
  <p:tag name="KSO_WM_DIAGRAM_VIRTUALLY_FRAME" val="{&quot;height&quot;:310.9,&quot;left&quot;:19.2,&quot;top&quot;:180,&quot;width&quot;:822}"/>
</p:tagLst>
</file>

<file path=ppt/tags/tag41.xml><?xml version="1.0" encoding="utf-8"?>
<p:tagLst xmlns:p="http://schemas.openxmlformats.org/presentationml/2006/main">
  <p:tag name="KSO_WM_DIAGRAM_VIRTUALLY_FRAME" val="{&quot;height&quot;:310.9,&quot;left&quot;:19.2,&quot;top&quot;:180,&quot;width&quot;:822}"/>
</p:tagLst>
</file>

<file path=ppt/tags/tag42.xml><?xml version="1.0" encoding="utf-8"?>
<p:tagLst xmlns:p="http://schemas.openxmlformats.org/presentationml/2006/main">
  <p:tag name="KSO_WM_DIAGRAM_VIRTUALLY_FRAME" val="{&quot;height&quot;:310.9,&quot;left&quot;:19.2,&quot;top&quot;:180,&quot;width&quot;:822}"/>
</p:tagLst>
</file>

<file path=ppt/tags/tag43.xml><?xml version="1.0" encoding="utf-8"?>
<p:tagLst xmlns:p="http://schemas.openxmlformats.org/presentationml/2006/main">
  <p:tag name="KSO_WM_DIAGRAM_VIRTUALLY_FRAME" val="{&quot;height&quot;:310.9,&quot;left&quot;:19.2,&quot;top&quot;:180,&quot;width&quot;:822}"/>
</p:tagLst>
</file>

<file path=ppt/tags/tag44.xml><?xml version="1.0" encoding="utf-8"?>
<p:tagLst xmlns:p="http://schemas.openxmlformats.org/presentationml/2006/main">
  <p:tag name="KSO_WM_DIAGRAM_VIRTUALLY_FRAME" val="{&quot;height&quot;:310.9,&quot;left&quot;:19.2,&quot;top&quot;:180,&quot;width&quot;:822}"/>
</p:tagLst>
</file>

<file path=ppt/tags/tag45.xml><?xml version="1.0" encoding="utf-8"?>
<p:tagLst xmlns:p="http://schemas.openxmlformats.org/presentationml/2006/main">
  <p:tag name="KSO_WM_DIAGRAM_VIRTUALLY_FRAME" val="{&quot;height&quot;:310.9,&quot;left&quot;:19.2,&quot;top&quot;:180,&quot;width&quot;:822}"/>
</p:tagLst>
</file>

<file path=ppt/tags/tag46.xml><?xml version="1.0" encoding="utf-8"?>
<p:tagLst xmlns:p="http://schemas.openxmlformats.org/presentationml/2006/main">
  <p:tag name="KSO_WM_DIAGRAM_VIRTUALLY_FRAME" val="{&quot;height&quot;:310.9,&quot;left&quot;:19.2,&quot;top&quot;:180,&quot;width&quot;:822}"/>
</p:tagLst>
</file>

<file path=ppt/tags/tag47.xml><?xml version="1.0" encoding="utf-8"?>
<p:tagLst xmlns:p="http://schemas.openxmlformats.org/presentationml/2006/main">
  <p:tag name="KSO_WM_DIAGRAM_VIRTUALLY_FRAME" val="{&quot;height&quot;:310.9,&quot;left&quot;:19.2,&quot;top&quot;:180,&quot;width&quot;:822}"/>
</p:tagLst>
</file>

<file path=ppt/tags/tag48.xml><?xml version="1.0" encoding="utf-8"?>
<p:tagLst xmlns:p="http://schemas.openxmlformats.org/presentationml/2006/main">
  <p:tag name="KSO_WM_DIAGRAM_VIRTUALLY_FRAME" val="{&quot;height&quot;:310.9,&quot;left&quot;:19.2,&quot;top&quot;:180,&quot;width&quot;:822}"/>
</p:tagLst>
</file>

<file path=ppt/tags/tag49.xml><?xml version="1.0" encoding="utf-8"?>
<p:tagLst xmlns:p="http://schemas.openxmlformats.org/presentationml/2006/main">
  <p:tag name="KSO_WM_DIAGRAM_VIRTUALLY_FRAME" val="{&quot;height&quot;:310.9,&quot;left&quot;:19.2,&quot;top&quot;:180,&quot;width&quot;:822}"/>
</p:tagLst>
</file>

<file path=ppt/tags/tag50.xml><?xml version="1.0" encoding="utf-8"?>
<p:tagLst xmlns:p="http://schemas.openxmlformats.org/presentationml/2006/main">
  <p:tag name="KSO_WM_DIAGRAM_VIRTUALLY_FRAME" val="{&quot;height&quot;:310.9,&quot;left&quot;:19.2,&quot;top&quot;:180,&quot;width&quot;:822}"/>
</p:tagLst>
</file>

<file path=ppt/tags/tag51.xml><?xml version="1.0" encoding="utf-8"?>
<p:tagLst xmlns:p="http://schemas.openxmlformats.org/presentationml/2006/main">
  <p:tag name="KSO_WM_DIAGRAM_VIRTUALLY_FRAME" val="{&quot;height&quot;:310.9,&quot;left&quot;:19.2,&quot;top&quot;:180,&quot;width&quot;:822}"/>
</p:tagLst>
</file>

<file path=ppt/tags/tag52.xml><?xml version="1.0" encoding="utf-8"?>
<p:tagLst xmlns:p="http://schemas.openxmlformats.org/presentationml/2006/main">
  <p:tag name="KSO_WM_DIAGRAM_VIRTUALLY_FRAME" val="{&quot;height&quot;:310.9,&quot;left&quot;:19.2,&quot;top&quot;:180,&quot;width&quot;:822}"/>
</p:tagLst>
</file>

<file path=ppt/tags/tag53.xml><?xml version="1.0" encoding="utf-8"?>
<p:tagLst xmlns:p="http://schemas.openxmlformats.org/presentationml/2006/main">
  <p:tag name="KSO_WM_DIAGRAM_VIRTUALLY_FRAME" val="{&quot;height&quot;:310.9,&quot;left&quot;:19.2,&quot;top&quot;:180,&quot;width&quot;:822}"/>
</p:tagLst>
</file>

<file path=ppt/tags/tag54.xml><?xml version="1.0" encoding="utf-8"?>
<p:tagLst xmlns:p="http://schemas.openxmlformats.org/presentationml/2006/main">
  <p:tag name="KSO_WM_DIAGRAM_VIRTUALLY_FRAME" val="{&quot;height&quot;:310.9,&quot;left&quot;:19.2,&quot;top&quot;:180,&quot;width&quot;:822}"/>
</p:tagLst>
</file>

<file path=ppt/tags/tag55.xml><?xml version="1.0" encoding="utf-8"?>
<p:tagLst xmlns:p="http://schemas.openxmlformats.org/presentationml/2006/main">
  <p:tag name="KSO_WM_DIAGRAM_VIRTUALLY_FRAME" val="{&quot;height&quot;:310.9,&quot;left&quot;:19.2,&quot;top&quot;:180,&quot;width&quot;:822}"/>
</p:tagLst>
</file>

<file path=ppt/tags/tag56.xml><?xml version="1.0" encoding="utf-8"?>
<p:tagLst xmlns:p="http://schemas.openxmlformats.org/presentationml/2006/main">
  <p:tag name="KSO_WM_DIAGRAM_VIRTUALLY_FRAME" val="{&quot;height&quot;:310.9,&quot;left&quot;:19.2,&quot;top&quot;:180,&quot;width&quot;:822}"/>
</p:tagLst>
</file>

<file path=ppt/tags/tag57.xml><?xml version="1.0" encoding="utf-8"?>
<p:tagLst xmlns:p="http://schemas.openxmlformats.org/presentationml/2006/main">
  <p:tag name="KSO_WM_DIAGRAM_VIRTUALLY_FRAME" val="{&quot;height&quot;:310.9,&quot;left&quot;:19.2,&quot;top&quot;:180,&quot;width&quot;:822}"/>
</p:tagLst>
</file>

<file path=ppt/tags/tag58.xml><?xml version="1.0" encoding="utf-8"?>
<p:tagLst xmlns:p="http://schemas.openxmlformats.org/presentationml/2006/main">
  <p:tag name="KSO_WM_DIAGRAM_VIRTUALLY_FRAME" val="{&quot;height&quot;:310.9,&quot;left&quot;:19.2,&quot;top&quot;:180,&quot;width&quot;:822}"/>
</p:tagLst>
</file>

<file path=ppt/tags/tag59.xml><?xml version="1.0" encoding="utf-8"?>
<p:tagLst xmlns:p="http://schemas.openxmlformats.org/presentationml/2006/main">
  <p:tag name="KSO_WM_DIAGRAM_VIRTUALLY_FRAME" val="{&quot;height&quot;:310.9,&quot;left&quot;:19.2,&quot;top&quot;:180,&quot;width&quot;:822}"/>
</p:tagLst>
</file>

<file path=ppt/tags/tag60.xml><?xml version="1.0" encoding="utf-8"?>
<p:tagLst xmlns:p="http://schemas.openxmlformats.org/presentationml/2006/main">
  <p:tag name="KSO_WM_DIAGRAM_VIRTUALLY_FRAME" val="{&quot;height&quot;:310.9,&quot;left&quot;:19.2,&quot;top&quot;:180,&quot;width&quot;:822}"/>
</p:tagLst>
</file>

<file path=ppt/theme/theme1.xml><?xml version="1.0" encoding="utf-8"?>
<a:theme xmlns:a="http://schemas.openxmlformats.org/drawingml/2006/main" name="Agri AI">
  <a:themeElements>
    <a:clrScheme name="Agri AI">
      <a:dk1>
        <a:srgbClr val="FFFFFF"/>
      </a:dk1>
      <a:lt1>
        <a:srgbClr val="FFFFFF"/>
      </a:lt1>
      <a:dk2>
        <a:srgbClr val="FFFFFF"/>
      </a:dk2>
      <a:lt2>
        <a:srgbClr val="FFFFFF"/>
      </a:lt2>
      <a:accent1>
        <a:srgbClr val="2E7D32"/>
      </a:accent1>
      <a:accent2>
        <a:srgbClr val="E7B84B"/>
      </a:accent2>
      <a:accent3>
        <a:srgbClr val="F47C65"/>
      </a:accent3>
      <a:accent4>
        <a:srgbClr val="0F8C84"/>
      </a:accent4>
      <a:accent5>
        <a:srgbClr val="4A90E2"/>
      </a:accent5>
      <a:accent6>
        <a:srgbClr val="0F4A2F"/>
      </a:accent6>
      <a:hlink>
        <a:srgbClr val="FFFFFF"/>
      </a:hlink>
      <a:folHlink>
        <a:srgbClr val="FFFFF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gri AI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Agri AI">
  <a:themeElements>
    <a:clrScheme name="Agri AI">
      <a:dk1>
        <a:srgbClr val="FFFFFF"/>
      </a:dk1>
      <a:lt1>
        <a:srgbClr val="FFFFFF"/>
      </a:lt1>
      <a:dk2>
        <a:srgbClr val="FFFFFF"/>
      </a:dk2>
      <a:lt2>
        <a:srgbClr val="FFFFFF"/>
      </a:lt2>
      <a:accent1>
        <a:srgbClr val="2E7D32"/>
      </a:accent1>
      <a:accent2>
        <a:srgbClr val="E7B84B"/>
      </a:accent2>
      <a:accent3>
        <a:srgbClr val="F47C65"/>
      </a:accent3>
      <a:accent4>
        <a:srgbClr val="0F8C84"/>
      </a:accent4>
      <a:accent5>
        <a:srgbClr val="4A90E2"/>
      </a:accent5>
      <a:accent6>
        <a:srgbClr val="0F4A2F"/>
      </a:accent6>
      <a:hlink>
        <a:srgbClr val="FFFFFF"/>
      </a:hlink>
      <a:folHlink>
        <a:srgbClr val="FFFFF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gri AI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1600</Words>
  <Application>WPS 演示</Application>
  <PresentationFormat>Converted Presentation</PresentationFormat>
  <Paragraphs>256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4" baseType="lpstr">
      <vt:lpstr>Arial</vt:lpstr>
      <vt:lpstr>宋体</vt:lpstr>
      <vt:lpstr>Wingdings</vt:lpstr>
      <vt:lpstr>Cambria</vt:lpstr>
      <vt:lpstr>黑体</vt:lpstr>
      <vt:lpstr>微软雅黑</vt:lpstr>
      <vt:lpstr>华文彩云</vt:lpstr>
      <vt:lpstr>Calibri</vt:lpstr>
      <vt:lpstr>Arial Unicode MS</vt:lpstr>
      <vt:lpstr>Calibri Light</vt:lpstr>
      <vt:lpstr>Agri AI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徐龙</cp:lastModifiedBy>
  <cp:revision>11</cp:revision>
  <dcterms:created xsi:type="dcterms:W3CDTF">2026-05-11T04:41:00Z</dcterms:created>
  <dcterms:modified xsi:type="dcterms:W3CDTF">2026-07-09T08:31:57Z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72A23DF4720845DDB5D794839889C2BC_13</vt:lpwstr>
  </property>
</Properties>
</file>